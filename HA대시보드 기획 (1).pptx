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8" r:id="rId6"/>
    <p:sldId id="269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U:\&#51204;&#49324;%20&#54260;&#45908;\&#54801;&#51032;&#54924;\&#44592;&#54925;&#49436;,%20&#48372;&#44256;&#49436;\&#44256;&#44061;&#47564;&#51313;(&#52488;&#44256;&#44061;&#47564;&#51313;&#49892;)\2.&#49436;&#48708;&#49828;&#44592;&#54925;\&#51648;&#51216;&#51204;&#45804;&#50857;\&#47784;&#48148;&#51068;%20&#52280;&#50668;&#50984;\%5b&#54801;&#51032;&#54924;_&#44592;&#54925;&#49436;,%20&#48372;&#44256;&#49436;_&#44256;&#44061;&#47564;&#51313;(&#52488;&#44256;&#44061;&#47564;&#51313;&#49892;)%5d%20&#47784;&#48148;&#51068;%20&#47564;&#51313;&#46020;%20&#52280;&#50668;&#50984;_2026_1&#48516;&#4459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U:\&#51204;&#49324;%20&#54260;&#45908;\&#54801;&#51032;&#54924;\&#44592;&#54925;&#49436;,%20&#48372;&#44256;&#49436;\&#44256;&#44061;&#47564;&#51313;(&#52488;&#44256;&#44061;&#47564;&#51313;&#49892;)\2.&#49436;&#48708;&#49828;&#44592;&#54925;\&#49436;&#48708;&#49828;&#44592;&#54925;\11.%20HA&#50948;&#50896;&#54924;_CS\2026&#45380;\3&#50900;\(&#47588;&#50900;&#50629;&#45936;&#51060;&#53944;)HA&#50900;&#44036;&#52628;&#51060;_20260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U:\&#51204;&#49324;%20&#54260;&#45908;\&#54801;&#51032;&#54924;\&#44592;&#54925;&#49436;,%20&#48372;&#44256;&#49436;\&#44256;&#44061;&#47564;&#51313;(&#52488;&#44256;&#44061;&#47564;&#51313;&#49892;)\2.&#49436;&#48708;&#49828;&#44592;&#54925;\&#49436;&#48708;&#49828;&#44592;&#54925;\11.%20HA&#50948;&#50896;&#54924;_CS\2026&#45380;\3&#50900;\(&#47588;&#50900;&#50629;&#45936;&#51060;&#53944;)HA&#50900;&#44036;&#52628;&#51060;_20260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U:\&#51204;&#49324;%20&#54260;&#45908;\&#54801;&#51032;&#54924;\&#44592;&#54925;&#49436;,%20&#48372;&#44256;&#49436;\&#44256;&#44061;&#47564;&#51313;(&#52488;&#44256;&#44061;&#47564;&#51313;&#49892;)\2.&#49436;&#48708;&#49828;&#44592;&#54925;\&#49436;&#48708;&#49828;&#44592;&#54925;\11.%20HA&#50948;&#50896;&#54924;_CS\2026&#45380;\3&#50900;\(&#47588;&#50900;&#50629;&#45936;&#51060;&#53944;)HA&#50900;&#44036;&#52628;&#51060;_20260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참여율!$A$9</c:f>
              <c:strCache>
                <c:ptCount val="1"/>
                <c:pt idx="0">
                  <c:v>합계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참여율!$B$7:$CJ$8</c:f>
              <c:multiLvlStrCache>
                <c:ptCount val="63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  <c:pt idx="27">
                    <c:v>4월</c:v>
                  </c:pt>
                  <c:pt idx="28">
                    <c:v>5월</c:v>
                  </c:pt>
                  <c:pt idx="29">
                    <c:v>6월</c:v>
                  </c:pt>
                  <c:pt idx="30">
                    <c:v>7월</c:v>
                  </c:pt>
                  <c:pt idx="31">
                    <c:v>8월</c:v>
                  </c:pt>
                  <c:pt idx="32">
                    <c:v>9월</c:v>
                  </c:pt>
                  <c:pt idx="33">
                    <c:v>10월</c:v>
                  </c:pt>
                  <c:pt idx="34">
                    <c:v>11월</c:v>
                  </c:pt>
                  <c:pt idx="35">
                    <c:v>12월</c:v>
                  </c:pt>
                  <c:pt idx="36">
                    <c:v>1월</c:v>
                  </c:pt>
                  <c:pt idx="37">
                    <c:v>2월</c:v>
                  </c:pt>
                  <c:pt idx="38">
                    <c:v>3월</c:v>
                  </c:pt>
                  <c:pt idx="39">
                    <c:v>4월</c:v>
                  </c:pt>
                  <c:pt idx="40">
                    <c:v>5월</c:v>
                  </c:pt>
                  <c:pt idx="41">
                    <c:v>6월</c:v>
                  </c:pt>
                  <c:pt idx="42">
                    <c:v>7월</c:v>
                  </c:pt>
                  <c:pt idx="43">
                    <c:v>8월</c:v>
                  </c:pt>
                  <c:pt idx="44">
                    <c:v>9월</c:v>
                  </c:pt>
                  <c:pt idx="45">
                    <c:v>10월</c:v>
                  </c:pt>
                  <c:pt idx="46">
                    <c:v>11월</c:v>
                  </c:pt>
                  <c:pt idx="47">
                    <c:v>12월</c:v>
                  </c:pt>
                  <c:pt idx="48">
                    <c:v>1월</c:v>
                  </c:pt>
                  <c:pt idx="49">
                    <c:v>2월</c:v>
                  </c:pt>
                  <c:pt idx="50">
                    <c:v>3월</c:v>
                  </c:pt>
                  <c:pt idx="51">
                    <c:v>4월</c:v>
                  </c:pt>
                  <c:pt idx="52">
                    <c:v>5월</c:v>
                  </c:pt>
                  <c:pt idx="53">
                    <c:v>6월</c:v>
                  </c:pt>
                  <c:pt idx="54">
                    <c:v>7월</c:v>
                  </c:pt>
                  <c:pt idx="55">
                    <c:v>8월</c:v>
                  </c:pt>
                  <c:pt idx="56">
                    <c:v>9월</c:v>
                  </c:pt>
                  <c:pt idx="57">
                    <c:v>10월</c:v>
                  </c:pt>
                  <c:pt idx="58">
                    <c:v>11월</c:v>
                  </c:pt>
                  <c:pt idx="59">
                    <c:v>12월</c:v>
                  </c:pt>
                  <c:pt idx="60">
                    <c:v>1월</c:v>
                  </c:pt>
                  <c:pt idx="61">
                    <c:v>2월</c:v>
                  </c:pt>
                  <c:pt idx="62">
                    <c:v>3월</c:v>
                  </c:pt>
                </c:lvl>
                <c:lvl>
                  <c:pt idx="0">
                    <c:v>2021년</c:v>
                  </c:pt>
                  <c:pt idx="12">
                    <c:v>2022년</c:v>
                  </c:pt>
                  <c:pt idx="24">
                    <c:v>2023년</c:v>
                  </c:pt>
                  <c:pt idx="36">
                    <c:v>2024년</c:v>
                  </c:pt>
                  <c:pt idx="48">
                    <c:v>2025년</c:v>
                  </c:pt>
                  <c:pt idx="60">
                    <c:v>2026년</c:v>
                  </c:pt>
                </c:lvl>
              </c:multiLvlStrCache>
            </c:multiLvlStrRef>
          </c:cat>
          <c:val>
            <c:numRef>
              <c:f>참여율!$B$9:$CJ$9</c:f>
              <c:numCache>
                <c:formatCode>0.0%</c:formatCode>
                <c:ptCount val="63"/>
                <c:pt idx="0">
                  <c:v>0.62972114366396048</c:v>
                </c:pt>
                <c:pt idx="1">
                  <c:v>0.61234339199532006</c:v>
                </c:pt>
                <c:pt idx="2">
                  <c:v>0.63343499809378578</c:v>
                </c:pt>
                <c:pt idx="3">
                  <c:v>0.64164892121017314</c:v>
                </c:pt>
                <c:pt idx="4">
                  <c:v>0.65229317090879757</c:v>
                </c:pt>
                <c:pt idx="5">
                  <c:v>0.66094566947033417</c:v>
                </c:pt>
                <c:pt idx="6">
                  <c:v>0.65670173637841078</c:v>
                </c:pt>
                <c:pt idx="7">
                  <c:v>0.66037638032038981</c:v>
                </c:pt>
                <c:pt idx="8">
                  <c:v>0.64731529311407043</c:v>
                </c:pt>
                <c:pt idx="9">
                  <c:v>0.63954661159406367</c:v>
                </c:pt>
                <c:pt idx="10">
                  <c:v>0.62818413391557493</c:v>
                </c:pt>
                <c:pt idx="11">
                  <c:v>0.64165669140531478</c:v>
                </c:pt>
                <c:pt idx="12">
                  <c:v>0.62161261132542744</c:v>
                </c:pt>
                <c:pt idx="13">
                  <c:v>0.6225578102878716</c:v>
                </c:pt>
                <c:pt idx="14">
                  <c:v>0.60854806357043667</c:v>
                </c:pt>
                <c:pt idx="15">
                  <c:v>0.5892901209179896</c:v>
                </c:pt>
                <c:pt idx="16">
                  <c:v>0.59699999999999998</c:v>
                </c:pt>
                <c:pt idx="17">
                  <c:v>0.6033744369785129</c:v>
                </c:pt>
                <c:pt idx="18">
                  <c:v>0.59375855461264715</c:v>
                </c:pt>
                <c:pt idx="19">
                  <c:v>0.60302533114570411</c:v>
                </c:pt>
                <c:pt idx="20">
                  <c:v>0.6021267168808152</c:v>
                </c:pt>
                <c:pt idx="21">
                  <c:v>0.59813463098134634</c:v>
                </c:pt>
                <c:pt idx="22">
                  <c:v>0.61161888626331984</c:v>
                </c:pt>
                <c:pt idx="23">
                  <c:v>0.62298978456559118</c:v>
                </c:pt>
                <c:pt idx="24">
                  <c:v>0.62170375453386928</c:v>
                </c:pt>
                <c:pt idx="25">
                  <c:v>0.60081433874895218</c:v>
                </c:pt>
                <c:pt idx="26">
                  <c:v>0.61441111300494289</c:v>
                </c:pt>
                <c:pt idx="27">
                  <c:v>0.60375379719369304</c:v>
                </c:pt>
                <c:pt idx="28">
                  <c:v>0.60834364504154148</c:v>
                </c:pt>
                <c:pt idx="29">
                  <c:v>0.58816611539875041</c:v>
                </c:pt>
                <c:pt idx="30">
                  <c:v>0.58998651621602438</c:v>
                </c:pt>
                <c:pt idx="31">
                  <c:v>0.58968212995058633</c:v>
                </c:pt>
                <c:pt idx="32">
                  <c:v>0.56839487277597089</c:v>
                </c:pt>
                <c:pt idx="33">
                  <c:v>0.58467910829804071</c:v>
                </c:pt>
                <c:pt idx="34">
                  <c:v>0.59398101393657843</c:v>
                </c:pt>
                <c:pt idx="35">
                  <c:v>0.59297343616109688</c:v>
                </c:pt>
                <c:pt idx="36">
                  <c:v>0.59372390454006063</c:v>
                </c:pt>
                <c:pt idx="37">
                  <c:v>0.60291033036182484</c:v>
                </c:pt>
                <c:pt idx="38">
                  <c:v>0.60205259253153076</c:v>
                </c:pt>
                <c:pt idx="39">
                  <c:v>0.58098464643552228</c:v>
                </c:pt>
                <c:pt idx="40">
                  <c:v>0.58648088872152138</c:v>
                </c:pt>
                <c:pt idx="41">
                  <c:v>0.58010156103065635</c:v>
                </c:pt>
                <c:pt idx="42">
                  <c:v>0.57814028087470171</c:v>
                </c:pt>
                <c:pt idx="43">
                  <c:v>0.59472481827622015</c:v>
                </c:pt>
                <c:pt idx="44">
                  <c:v>0.57745180217937975</c:v>
                </c:pt>
                <c:pt idx="45">
                  <c:v>0.5872674658949979</c:v>
                </c:pt>
                <c:pt idx="46">
                  <c:v>0.57774958045106628</c:v>
                </c:pt>
                <c:pt idx="47">
                  <c:v>0.57802730636723232</c:v>
                </c:pt>
                <c:pt idx="48">
                  <c:v>0.57868758370001916</c:v>
                </c:pt>
                <c:pt idx="49">
                  <c:v>0.5907039353868081</c:v>
                </c:pt>
                <c:pt idx="50">
                  <c:v>0.58860448410147836</c:v>
                </c:pt>
                <c:pt idx="51">
                  <c:v>0.56490051969617761</c:v>
                </c:pt>
                <c:pt idx="52">
                  <c:v>0.57773279352226725</c:v>
                </c:pt>
                <c:pt idx="53">
                  <c:v>0.55364539537201407</c:v>
                </c:pt>
                <c:pt idx="54">
                  <c:v>0.53047935269656044</c:v>
                </c:pt>
                <c:pt idx="55">
                  <c:v>0.52380399442638181</c:v>
                </c:pt>
                <c:pt idx="56">
                  <c:v>0.52024150476043041</c:v>
                </c:pt>
                <c:pt idx="57">
                  <c:v>0.52605326445176803</c:v>
                </c:pt>
                <c:pt idx="58">
                  <c:v>0.49101953415199101</c:v>
                </c:pt>
                <c:pt idx="59">
                  <c:v>0.51935729951368359</c:v>
                </c:pt>
                <c:pt idx="60">
                  <c:v>0.51708132194578504</c:v>
                </c:pt>
                <c:pt idx="61">
                  <c:v>0.50784777467211351</c:v>
                </c:pt>
                <c:pt idx="62">
                  <c:v>0.50788303463145124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85-4914-9E26-D1E77E00A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2878832"/>
        <c:axId val="2002878416"/>
      </c:lineChart>
      <c:catAx>
        <c:axId val="2002878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02878416"/>
        <c:crosses val="autoZero"/>
        <c:auto val="1"/>
        <c:lblAlgn val="ctr"/>
        <c:lblOffset val="100"/>
        <c:noMultiLvlLbl val="0"/>
      </c:catAx>
      <c:valAx>
        <c:axId val="200287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02878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6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18021961290506E-2"/>
          <c:y val="0.20074806653017221"/>
          <c:w val="0.91163956077418984"/>
          <c:h val="0.51214755452111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'전체데이터(그래프)'!$C$2</c:f>
              <c:strCache>
                <c:ptCount val="1"/>
                <c:pt idx="0">
                  <c:v>매우만족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'전체데이터(그래프)'!$A$15:$B$53</c:f>
              <c:multiLvlStrCache>
                <c:ptCount val="3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  <c:pt idx="27">
                    <c:v>4월</c:v>
                  </c:pt>
                  <c:pt idx="28">
                    <c:v>5월</c:v>
                  </c:pt>
                  <c:pt idx="29">
                    <c:v>6월</c:v>
                  </c:pt>
                  <c:pt idx="30">
                    <c:v>7월</c:v>
                  </c:pt>
                  <c:pt idx="31">
                    <c:v>8월</c:v>
                  </c:pt>
                  <c:pt idx="32">
                    <c:v>9월</c:v>
                  </c:pt>
                  <c:pt idx="33">
                    <c:v>10월</c:v>
                  </c:pt>
                  <c:pt idx="34">
                    <c:v>11월</c:v>
                  </c:pt>
                  <c:pt idx="35">
                    <c:v>12월</c:v>
                  </c:pt>
                  <c:pt idx="36">
                    <c:v>1월</c:v>
                  </c:pt>
                  <c:pt idx="37">
                    <c:v>2월</c:v>
                  </c:pt>
                  <c:pt idx="38">
                    <c:v>3월</c:v>
                  </c:pt>
                </c:lvl>
                <c:lvl>
                  <c:pt idx="0">
                    <c:v>2023년</c:v>
                  </c:pt>
                  <c:pt idx="12">
                    <c:v>2024년</c:v>
                  </c:pt>
                  <c:pt idx="24">
                    <c:v>2025년</c:v>
                  </c:pt>
                  <c:pt idx="36">
                    <c:v>2026년</c:v>
                  </c:pt>
                </c:lvl>
              </c:multiLvlStrCache>
            </c:multiLvlStrRef>
          </c:cat>
          <c:val>
            <c:numRef>
              <c:f>'전체데이터(그래프)'!$C$15:$C$53</c:f>
              <c:numCache>
                <c:formatCode>0.0%</c:formatCode>
                <c:ptCount val="39"/>
                <c:pt idx="0">
                  <c:v>0.81929434202161477</c:v>
                </c:pt>
                <c:pt idx="1">
                  <c:v>0.8163183279742765</c:v>
                </c:pt>
                <c:pt idx="2">
                  <c:v>0.8119425863991081</c:v>
                </c:pt>
                <c:pt idx="3">
                  <c:v>0.81061840120663653</c:v>
                </c:pt>
                <c:pt idx="4">
                  <c:v>0.81225111267275707</c:v>
                </c:pt>
                <c:pt idx="5">
                  <c:v>0.81815896952560474</c:v>
                </c:pt>
                <c:pt idx="6">
                  <c:v>0.81884759714320299</c:v>
                </c:pt>
                <c:pt idx="7">
                  <c:v>0.82148250692172164</c:v>
                </c:pt>
                <c:pt idx="8">
                  <c:v>0.82510329878750932</c:v>
                </c:pt>
                <c:pt idx="9">
                  <c:v>0.82567188126754909</c:v>
                </c:pt>
                <c:pt idx="10">
                  <c:v>0.83059097764980117</c:v>
                </c:pt>
                <c:pt idx="11">
                  <c:v>0.8317485898468977</c:v>
                </c:pt>
                <c:pt idx="12">
                  <c:v>0.83044931303379133</c:v>
                </c:pt>
                <c:pt idx="13">
                  <c:v>0.81735657225853309</c:v>
                </c:pt>
                <c:pt idx="14">
                  <c:v>0.81396942902186575</c:v>
                </c:pt>
                <c:pt idx="15">
                  <c:v>0.81973624880104301</c:v>
                </c:pt>
                <c:pt idx="16">
                  <c:v>0.82119121982298271</c:v>
                </c:pt>
                <c:pt idx="17">
                  <c:v>0.81870480219583475</c:v>
                </c:pt>
                <c:pt idx="18">
                  <c:v>0.82818288251751326</c:v>
                </c:pt>
                <c:pt idx="19">
                  <c:v>0.82565949214025469</c:v>
                </c:pt>
                <c:pt idx="20">
                  <c:v>0.81758732886158314</c:v>
                </c:pt>
                <c:pt idx="21">
                  <c:v>0.82392060664352562</c:v>
                </c:pt>
                <c:pt idx="22">
                  <c:v>0.82957106233781475</c:v>
                </c:pt>
                <c:pt idx="23">
                  <c:v>0.83194814030725828</c:v>
                </c:pt>
                <c:pt idx="24">
                  <c:v>0.83318572959932247</c:v>
                </c:pt>
                <c:pt idx="25">
                  <c:v>0.82697966616557483</c:v>
                </c:pt>
                <c:pt idx="26">
                  <c:v>0.82773714487968952</c:v>
                </c:pt>
                <c:pt idx="27">
                  <c:v>0.82482049879811725</c:v>
                </c:pt>
                <c:pt idx="28">
                  <c:v>0.81593512619614594</c:v>
                </c:pt>
                <c:pt idx="29">
                  <c:v>0.8220513563967371</c:v>
                </c:pt>
                <c:pt idx="30">
                  <c:v>0.82684044605800777</c:v>
                </c:pt>
                <c:pt idx="31">
                  <c:v>0.8159630048813703</c:v>
                </c:pt>
                <c:pt idx="32">
                  <c:v>0.82089411119453015</c:v>
                </c:pt>
                <c:pt idx="33">
                  <c:v>0.83190934278283646</c:v>
                </c:pt>
                <c:pt idx="34">
                  <c:v>0.82509243081710482</c:v>
                </c:pt>
                <c:pt idx="35">
                  <c:v>0.81764005630086534</c:v>
                </c:pt>
                <c:pt idx="36">
                  <c:v>0.80489547972127928</c:v>
                </c:pt>
                <c:pt idx="37">
                  <c:v>0.81496171915982585</c:v>
                </c:pt>
                <c:pt idx="38">
                  <c:v>0.8086977069704846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A9-44E3-91AE-13666104BA91}"/>
            </c:ext>
          </c:extLst>
        </c:ser>
        <c:ser>
          <c:idx val="1"/>
          <c:order val="1"/>
          <c:tx>
            <c:strRef>
              <c:f>'전체데이터(그래프)'!$D$2</c:f>
              <c:strCache>
                <c:ptCount val="1"/>
                <c:pt idx="0">
                  <c:v>만족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'전체데이터(그래프)'!$A$15:$B$53</c:f>
              <c:multiLvlStrCache>
                <c:ptCount val="3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  <c:pt idx="27">
                    <c:v>4월</c:v>
                  </c:pt>
                  <c:pt idx="28">
                    <c:v>5월</c:v>
                  </c:pt>
                  <c:pt idx="29">
                    <c:v>6월</c:v>
                  </c:pt>
                  <c:pt idx="30">
                    <c:v>7월</c:v>
                  </c:pt>
                  <c:pt idx="31">
                    <c:v>8월</c:v>
                  </c:pt>
                  <c:pt idx="32">
                    <c:v>9월</c:v>
                  </c:pt>
                  <c:pt idx="33">
                    <c:v>10월</c:v>
                  </c:pt>
                  <c:pt idx="34">
                    <c:v>11월</c:v>
                  </c:pt>
                  <c:pt idx="35">
                    <c:v>12월</c:v>
                  </c:pt>
                  <c:pt idx="36">
                    <c:v>1월</c:v>
                  </c:pt>
                  <c:pt idx="37">
                    <c:v>2월</c:v>
                  </c:pt>
                  <c:pt idx="38">
                    <c:v>3월</c:v>
                  </c:pt>
                </c:lvl>
                <c:lvl>
                  <c:pt idx="0">
                    <c:v>2023년</c:v>
                  </c:pt>
                  <c:pt idx="12">
                    <c:v>2024년</c:v>
                  </c:pt>
                  <c:pt idx="24">
                    <c:v>2025년</c:v>
                  </c:pt>
                  <c:pt idx="36">
                    <c:v>2026년</c:v>
                  </c:pt>
                </c:lvl>
              </c:multiLvlStrCache>
            </c:multiLvlStrRef>
          </c:cat>
          <c:val>
            <c:numRef>
              <c:f>'전체데이터(그래프)'!$D$15:$D$53</c:f>
              <c:numCache>
                <c:formatCode>0.0%</c:formatCode>
                <c:ptCount val="39"/>
                <c:pt idx="0">
                  <c:v>0.14399237126509853</c:v>
                </c:pt>
                <c:pt idx="1">
                  <c:v>0.14636923901393356</c:v>
                </c:pt>
                <c:pt idx="2">
                  <c:v>0.1500139353400223</c:v>
                </c:pt>
                <c:pt idx="3">
                  <c:v>0.15010558069381599</c:v>
                </c:pt>
                <c:pt idx="4">
                  <c:v>0.15032794565472007</c:v>
                </c:pt>
                <c:pt idx="5">
                  <c:v>0.14765944077913917</c:v>
                </c:pt>
                <c:pt idx="6">
                  <c:v>0.15101077351410241</c:v>
                </c:pt>
                <c:pt idx="7">
                  <c:v>0.14541907878177698</c:v>
                </c:pt>
                <c:pt idx="8">
                  <c:v>0.14062182483235114</c:v>
                </c:pt>
                <c:pt idx="9">
                  <c:v>0.14199759326113118</c:v>
                </c:pt>
                <c:pt idx="10">
                  <c:v>0.13944878650761003</c:v>
                </c:pt>
                <c:pt idx="11">
                  <c:v>0.1394842868654311</c:v>
                </c:pt>
                <c:pt idx="12">
                  <c:v>0.1390271073152618</c:v>
                </c:pt>
                <c:pt idx="13">
                  <c:v>0.14618736383442266</c:v>
                </c:pt>
                <c:pt idx="14">
                  <c:v>0.14881074782370279</c:v>
                </c:pt>
                <c:pt idx="15">
                  <c:v>0.14140900897214292</c:v>
                </c:pt>
                <c:pt idx="16">
                  <c:v>0.14225367620308876</c:v>
                </c:pt>
                <c:pt idx="17">
                  <c:v>0.15067451899029125</c:v>
                </c:pt>
                <c:pt idx="18">
                  <c:v>0.14175617284641401</c:v>
                </c:pt>
                <c:pt idx="19">
                  <c:v>0.14296499996117834</c:v>
                </c:pt>
                <c:pt idx="20">
                  <c:v>0.14950641264248932</c:v>
                </c:pt>
                <c:pt idx="21">
                  <c:v>0.14322041363638027</c:v>
                </c:pt>
                <c:pt idx="22">
                  <c:v>0.13824743798914574</c:v>
                </c:pt>
                <c:pt idx="23">
                  <c:v>0.13466783062449911</c:v>
                </c:pt>
                <c:pt idx="24">
                  <c:v>0.13282215829828317</c:v>
                </c:pt>
                <c:pt idx="25">
                  <c:v>0.14271782907197827</c:v>
                </c:pt>
                <c:pt idx="26">
                  <c:v>0.14015122565422214</c:v>
                </c:pt>
                <c:pt idx="27">
                  <c:v>0.13909859605802788</c:v>
                </c:pt>
                <c:pt idx="28">
                  <c:v>0.14902126487396816</c:v>
                </c:pt>
                <c:pt idx="29">
                  <c:v>0.14173324805316362</c:v>
                </c:pt>
                <c:pt idx="30">
                  <c:v>0.13462650814400901</c:v>
                </c:pt>
                <c:pt idx="31">
                  <c:v>0.14384335575344617</c:v>
                </c:pt>
                <c:pt idx="32">
                  <c:v>0.14253346949102666</c:v>
                </c:pt>
                <c:pt idx="33">
                  <c:v>0.13673162404689618</c:v>
                </c:pt>
                <c:pt idx="34">
                  <c:v>0.13918328637950009</c:v>
                </c:pt>
                <c:pt idx="35">
                  <c:v>0.14442023660948003</c:v>
                </c:pt>
                <c:pt idx="36">
                  <c:v>0.15410041093442917</c:v>
                </c:pt>
                <c:pt idx="37">
                  <c:v>0.14812824536228741</c:v>
                </c:pt>
                <c:pt idx="38">
                  <c:v>0.15032091083781343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A9-44E3-91AE-13666104BA91}"/>
            </c:ext>
          </c:extLst>
        </c:ser>
        <c:ser>
          <c:idx val="2"/>
          <c:order val="2"/>
          <c:tx>
            <c:strRef>
              <c:f>'전체데이터(그래프)'!$E$2</c:f>
              <c:strCache>
                <c:ptCount val="1"/>
                <c:pt idx="0">
                  <c:v>보통이하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'전체데이터(그래프)'!$A$15:$B$53</c:f>
              <c:multiLvlStrCache>
                <c:ptCount val="3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  <c:pt idx="27">
                    <c:v>4월</c:v>
                  </c:pt>
                  <c:pt idx="28">
                    <c:v>5월</c:v>
                  </c:pt>
                  <c:pt idx="29">
                    <c:v>6월</c:v>
                  </c:pt>
                  <c:pt idx="30">
                    <c:v>7월</c:v>
                  </c:pt>
                  <c:pt idx="31">
                    <c:v>8월</c:v>
                  </c:pt>
                  <c:pt idx="32">
                    <c:v>9월</c:v>
                  </c:pt>
                  <c:pt idx="33">
                    <c:v>10월</c:v>
                  </c:pt>
                  <c:pt idx="34">
                    <c:v>11월</c:v>
                  </c:pt>
                  <c:pt idx="35">
                    <c:v>12월</c:v>
                  </c:pt>
                  <c:pt idx="36">
                    <c:v>1월</c:v>
                  </c:pt>
                  <c:pt idx="37">
                    <c:v>2월</c:v>
                  </c:pt>
                  <c:pt idx="38">
                    <c:v>3월</c:v>
                  </c:pt>
                </c:lvl>
                <c:lvl>
                  <c:pt idx="0">
                    <c:v>2023년</c:v>
                  </c:pt>
                  <c:pt idx="12">
                    <c:v>2024년</c:v>
                  </c:pt>
                  <c:pt idx="24">
                    <c:v>2025년</c:v>
                  </c:pt>
                  <c:pt idx="36">
                    <c:v>2026년</c:v>
                  </c:pt>
                </c:lvl>
              </c:multiLvlStrCache>
            </c:multiLvlStrRef>
          </c:cat>
          <c:val>
            <c:numRef>
              <c:f>'전체데이터(그래프)'!$E$15:$E$53</c:f>
              <c:numCache>
                <c:formatCode>0.0%</c:formatCode>
                <c:ptCount val="39"/>
                <c:pt idx="0">
                  <c:v>3.6713286713286712E-2</c:v>
                </c:pt>
                <c:pt idx="1">
                  <c:v>3.7312433011789922E-2</c:v>
                </c:pt>
                <c:pt idx="2">
                  <c:v>3.8043478260869568E-2</c:v>
                </c:pt>
                <c:pt idx="3">
                  <c:v>3.9276018099547512E-2</c:v>
                </c:pt>
                <c:pt idx="4">
                  <c:v>3.7420941672522842E-2</c:v>
                </c:pt>
                <c:pt idx="5">
                  <c:v>3.4181589695256046E-2</c:v>
                </c:pt>
                <c:pt idx="6">
                  <c:v>3.0141629342694588E-2</c:v>
                </c:pt>
                <c:pt idx="7">
                  <c:v>3.3098414296501386E-2</c:v>
                </c:pt>
                <c:pt idx="8">
                  <c:v>3.4274876380139541E-2</c:v>
                </c:pt>
                <c:pt idx="9">
                  <c:v>3.2330525471319697E-2</c:v>
                </c:pt>
                <c:pt idx="10">
                  <c:v>2.9960235842588785E-2</c:v>
                </c:pt>
                <c:pt idx="11">
                  <c:v>2.8767123287671233E-2</c:v>
                </c:pt>
                <c:pt idx="12">
                  <c:v>3.0523579650946899E-2</c:v>
                </c:pt>
                <c:pt idx="13">
                  <c:v>3.6456063907044298E-2</c:v>
                </c:pt>
                <c:pt idx="14">
                  <c:v>3.7219823154431418E-2</c:v>
                </c:pt>
                <c:pt idx="15">
                  <c:v>3.8854742226814391E-2</c:v>
                </c:pt>
                <c:pt idx="16">
                  <c:v>3.6555103973928652E-2</c:v>
                </c:pt>
                <c:pt idx="17">
                  <c:v>3.0620678813873939E-2</c:v>
                </c:pt>
                <c:pt idx="18">
                  <c:v>3.0060944636072711E-2</c:v>
                </c:pt>
                <c:pt idx="19">
                  <c:v>3.1375507898566891E-2</c:v>
                </c:pt>
                <c:pt idx="20">
                  <c:v>3.2906258495927501E-2</c:v>
                </c:pt>
                <c:pt idx="21">
                  <c:v>3.2858979720094064E-2</c:v>
                </c:pt>
                <c:pt idx="22">
                  <c:v>3.2181499673039446E-2</c:v>
                </c:pt>
                <c:pt idx="23">
                  <c:v>3.3384029068242671E-2</c:v>
                </c:pt>
                <c:pt idx="24">
                  <c:v>3.3992112102394341E-2</c:v>
                </c:pt>
                <c:pt idx="25">
                  <c:v>3.0302504762446933E-2</c:v>
                </c:pt>
                <c:pt idx="26">
                  <c:v>3.2111629466088393E-2</c:v>
                </c:pt>
                <c:pt idx="27">
                  <c:v>3.6080905143855001E-2</c:v>
                </c:pt>
                <c:pt idx="28">
                  <c:v>3.504360892988586E-2</c:v>
                </c:pt>
                <c:pt idx="29">
                  <c:v>3.6215395550099248E-2</c:v>
                </c:pt>
                <c:pt idx="30">
                  <c:v>3.8533045797983174E-2</c:v>
                </c:pt>
                <c:pt idx="31">
                  <c:v>4.0193639365183588E-2</c:v>
                </c:pt>
                <c:pt idx="32">
                  <c:v>3.6572419314443085E-2</c:v>
                </c:pt>
                <c:pt idx="33">
                  <c:v>3.1359033170267357E-2</c:v>
                </c:pt>
                <c:pt idx="34">
                  <c:v>3.5724282803395187E-2</c:v>
                </c:pt>
                <c:pt idx="35">
                  <c:v>3.7939707089654676E-2</c:v>
                </c:pt>
                <c:pt idx="36">
                  <c:v>4.1004109344291585E-2</c:v>
                </c:pt>
                <c:pt idx="37">
                  <c:v>3.6910035477886648E-2</c:v>
                </c:pt>
                <c:pt idx="38">
                  <c:v>4.0981382191702033E-2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A9-44E3-91AE-13666104BA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29078784"/>
        <c:axId val="329077952"/>
        <c:extLst>
          <c:ext xmlns:c15="http://schemas.microsoft.com/office/drawing/2012/chart" uri="{02D57815-91ED-43cb-92C2-25804820EDAC}">
            <c15:filteredBarSeries>
              <c15:ser>
                <c:idx val="4"/>
                <c:order val="3"/>
                <c:tx>
                  <c:strRef>
                    <c:extLst>
                      <c:ext uri="{02D57815-91ED-43cb-92C2-25804820EDAC}">
                        <c15:formulaRef>
                          <c15:sqref>'전체데이터(그래프)'!$P$2</c15:sqref>
                        </c15:formulaRef>
                      </c:ext>
                    </c:extLst>
                    <c:strCache>
                      <c:ptCount val="1"/>
                      <c:pt idx="0">
                        <c:v>칭찬건수 총계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800" b="0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'전체데이터(그래프)'!$A$15:$B$53</c15:sqref>
                        </c15:formulaRef>
                      </c:ext>
                    </c:extLst>
                    <c:multiLvlStrCache>
                      <c:ptCount val="39"/>
                      <c:lvl>
                        <c:pt idx="0">
                          <c:v>1월</c:v>
                        </c:pt>
                        <c:pt idx="1">
                          <c:v>2월</c:v>
                        </c:pt>
                        <c:pt idx="2">
                          <c:v>3월</c:v>
                        </c:pt>
                        <c:pt idx="3">
                          <c:v>4월</c:v>
                        </c:pt>
                        <c:pt idx="4">
                          <c:v>5월</c:v>
                        </c:pt>
                        <c:pt idx="5">
                          <c:v>6월</c:v>
                        </c:pt>
                        <c:pt idx="6">
                          <c:v>7월</c:v>
                        </c:pt>
                        <c:pt idx="7">
                          <c:v>8월</c:v>
                        </c:pt>
                        <c:pt idx="8">
                          <c:v>9월</c:v>
                        </c:pt>
                        <c:pt idx="9">
                          <c:v>10월</c:v>
                        </c:pt>
                        <c:pt idx="10">
                          <c:v>11월</c:v>
                        </c:pt>
                        <c:pt idx="11">
                          <c:v>12월</c:v>
                        </c:pt>
                        <c:pt idx="12">
                          <c:v>1월</c:v>
                        </c:pt>
                        <c:pt idx="13">
                          <c:v>2월</c:v>
                        </c:pt>
                        <c:pt idx="14">
                          <c:v>3월</c:v>
                        </c:pt>
                        <c:pt idx="15">
                          <c:v>4월</c:v>
                        </c:pt>
                        <c:pt idx="16">
                          <c:v>5월</c:v>
                        </c:pt>
                        <c:pt idx="17">
                          <c:v>6월</c:v>
                        </c:pt>
                        <c:pt idx="18">
                          <c:v>7월</c:v>
                        </c:pt>
                        <c:pt idx="19">
                          <c:v>8월</c:v>
                        </c:pt>
                        <c:pt idx="20">
                          <c:v>9월</c:v>
                        </c:pt>
                        <c:pt idx="21">
                          <c:v>10월</c:v>
                        </c:pt>
                        <c:pt idx="22">
                          <c:v>11월</c:v>
                        </c:pt>
                        <c:pt idx="23">
                          <c:v>12월</c:v>
                        </c:pt>
                        <c:pt idx="24">
                          <c:v>1월</c:v>
                        </c:pt>
                        <c:pt idx="25">
                          <c:v>2월</c:v>
                        </c:pt>
                        <c:pt idx="26">
                          <c:v>3월</c:v>
                        </c:pt>
                        <c:pt idx="27">
                          <c:v>4월</c:v>
                        </c:pt>
                        <c:pt idx="28">
                          <c:v>5월</c:v>
                        </c:pt>
                        <c:pt idx="29">
                          <c:v>6월</c:v>
                        </c:pt>
                        <c:pt idx="30">
                          <c:v>7월</c:v>
                        </c:pt>
                        <c:pt idx="31">
                          <c:v>8월</c:v>
                        </c:pt>
                        <c:pt idx="32">
                          <c:v>9월</c:v>
                        </c:pt>
                        <c:pt idx="33">
                          <c:v>10월</c:v>
                        </c:pt>
                        <c:pt idx="34">
                          <c:v>11월</c:v>
                        </c:pt>
                        <c:pt idx="35">
                          <c:v>12월</c:v>
                        </c:pt>
                        <c:pt idx="36">
                          <c:v>1월</c:v>
                        </c:pt>
                        <c:pt idx="37">
                          <c:v>2월</c:v>
                        </c:pt>
                        <c:pt idx="38">
                          <c:v>3월</c:v>
                        </c:pt>
                      </c:lvl>
                      <c:lvl>
                        <c:pt idx="0">
                          <c:v>2023년</c:v>
                        </c:pt>
                        <c:pt idx="12">
                          <c:v>2024년</c:v>
                        </c:pt>
                        <c:pt idx="24">
                          <c:v>2025년</c:v>
                        </c:pt>
                        <c:pt idx="36">
                          <c:v>2026년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'전체데이터(그래프)'!$P$27:$P$50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549</c:v>
                      </c:pt>
                      <c:pt idx="1">
                        <c:v>531</c:v>
                      </c:pt>
                      <c:pt idx="2">
                        <c:v>550</c:v>
                      </c:pt>
                      <c:pt idx="3">
                        <c:v>518</c:v>
                      </c:pt>
                      <c:pt idx="4">
                        <c:v>507</c:v>
                      </c:pt>
                      <c:pt idx="5">
                        <c:v>535</c:v>
                      </c:pt>
                      <c:pt idx="6">
                        <c:v>536</c:v>
                      </c:pt>
                      <c:pt idx="7">
                        <c:v>544</c:v>
                      </c:pt>
                      <c:pt idx="8">
                        <c:v>460</c:v>
                      </c:pt>
                      <c:pt idx="9">
                        <c:v>458</c:v>
                      </c:pt>
                      <c:pt idx="10">
                        <c:v>473</c:v>
                      </c:pt>
                      <c:pt idx="11">
                        <c:v>493</c:v>
                      </c:pt>
                      <c:pt idx="12">
                        <c:v>508</c:v>
                      </c:pt>
                      <c:pt idx="13">
                        <c:v>530</c:v>
                      </c:pt>
                      <c:pt idx="14">
                        <c:v>482</c:v>
                      </c:pt>
                      <c:pt idx="15">
                        <c:v>556</c:v>
                      </c:pt>
                      <c:pt idx="16">
                        <c:v>551</c:v>
                      </c:pt>
                      <c:pt idx="17">
                        <c:v>593</c:v>
                      </c:pt>
                      <c:pt idx="18">
                        <c:v>542</c:v>
                      </c:pt>
                      <c:pt idx="19">
                        <c:v>455</c:v>
                      </c:pt>
                      <c:pt idx="20">
                        <c:v>493</c:v>
                      </c:pt>
                      <c:pt idx="21">
                        <c:v>418</c:v>
                      </c:pt>
                      <c:pt idx="22">
                        <c:v>408</c:v>
                      </c:pt>
                      <c:pt idx="23">
                        <c:v>369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C7A9-44E3-91AE-13666104BA91}"/>
                  </c:ext>
                </c:extLst>
              </c15:ser>
            </c15:filteredBarSeries>
            <c15:filteredBarSeries>
              <c15:ser>
                <c:idx val="5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'전체데이터(그래프)'!$Q$2</c15:sqref>
                        </c15:formulaRef>
                      </c:ext>
                    </c:extLst>
                    <c:strCache>
                      <c:ptCount val="1"/>
                      <c:pt idx="0">
                        <c:v>월평균 칭찬건수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800" b="0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'전체데이터(그래프)'!$A$15:$B$53</c15:sqref>
                        </c15:formulaRef>
                      </c:ext>
                    </c:extLst>
                    <c:multiLvlStrCache>
                      <c:ptCount val="39"/>
                      <c:lvl>
                        <c:pt idx="0">
                          <c:v>1월</c:v>
                        </c:pt>
                        <c:pt idx="1">
                          <c:v>2월</c:v>
                        </c:pt>
                        <c:pt idx="2">
                          <c:v>3월</c:v>
                        </c:pt>
                        <c:pt idx="3">
                          <c:v>4월</c:v>
                        </c:pt>
                        <c:pt idx="4">
                          <c:v>5월</c:v>
                        </c:pt>
                        <c:pt idx="5">
                          <c:v>6월</c:v>
                        </c:pt>
                        <c:pt idx="6">
                          <c:v>7월</c:v>
                        </c:pt>
                        <c:pt idx="7">
                          <c:v>8월</c:v>
                        </c:pt>
                        <c:pt idx="8">
                          <c:v>9월</c:v>
                        </c:pt>
                        <c:pt idx="9">
                          <c:v>10월</c:v>
                        </c:pt>
                        <c:pt idx="10">
                          <c:v>11월</c:v>
                        </c:pt>
                        <c:pt idx="11">
                          <c:v>12월</c:v>
                        </c:pt>
                        <c:pt idx="12">
                          <c:v>1월</c:v>
                        </c:pt>
                        <c:pt idx="13">
                          <c:v>2월</c:v>
                        </c:pt>
                        <c:pt idx="14">
                          <c:v>3월</c:v>
                        </c:pt>
                        <c:pt idx="15">
                          <c:v>4월</c:v>
                        </c:pt>
                        <c:pt idx="16">
                          <c:v>5월</c:v>
                        </c:pt>
                        <c:pt idx="17">
                          <c:v>6월</c:v>
                        </c:pt>
                        <c:pt idx="18">
                          <c:v>7월</c:v>
                        </c:pt>
                        <c:pt idx="19">
                          <c:v>8월</c:v>
                        </c:pt>
                        <c:pt idx="20">
                          <c:v>9월</c:v>
                        </c:pt>
                        <c:pt idx="21">
                          <c:v>10월</c:v>
                        </c:pt>
                        <c:pt idx="22">
                          <c:v>11월</c:v>
                        </c:pt>
                        <c:pt idx="23">
                          <c:v>12월</c:v>
                        </c:pt>
                        <c:pt idx="24">
                          <c:v>1월</c:v>
                        </c:pt>
                        <c:pt idx="25">
                          <c:v>2월</c:v>
                        </c:pt>
                        <c:pt idx="26">
                          <c:v>3월</c:v>
                        </c:pt>
                        <c:pt idx="27">
                          <c:v>4월</c:v>
                        </c:pt>
                        <c:pt idx="28">
                          <c:v>5월</c:v>
                        </c:pt>
                        <c:pt idx="29">
                          <c:v>6월</c:v>
                        </c:pt>
                        <c:pt idx="30">
                          <c:v>7월</c:v>
                        </c:pt>
                        <c:pt idx="31">
                          <c:v>8월</c:v>
                        </c:pt>
                        <c:pt idx="32">
                          <c:v>9월</c:v>
                        </c:pt>
                        <c:pt idx="33">
                          <c:v>10월</c:v>
                        </c:pt>
                        <c:pt idx="34">
                          <c:v>11월</c:v>
                        </c:pt>
                        <c:pt idx="35">
                          <c:v>12월</c:v>
                        </c:pt>
                        <c:pt idx="36">
                          <c:v>1월</c:v>
                        </c:pt>
                        <c:pt idx="37">
                          <c:v>2월</c:v>
                        </c:pt>
                        <c:pt idx="38">
                          <c:v>3월</c:v>
                        </c:pt>
                      </c:lvl>
                      <c:lvl>
                        <c:pt idx="0">
                          <c:v>2023년</c:v>
                        </c:pt>
                        <c:pt idx="12">
                          <c:v>2024년</c:v>
                        </c:pt>
                        <c:pt idx="24">
                          <c:v>2025년</c:v>
                        </c:pt>
                        <c:pt idx="36">
                          <c:v>2026년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'전체데이터(그래프)'!$Q$27:$Q$50</c15:sqref>
                        </c15:formulaRef>
                      </c:ext>
                    </c:extLst>
                    <c:numCache>
                      <c:formatCode>0.0</c:formatCode>
                      <c:ptCount val="24"/>
                      <c:pt idx="0">
                        <c:v>28.894736842105264</c:v>
                      </c:pt>
                      <c:pt idx="1">
                        <c:v>27.94736842105263</c:v>
                      </c:pt>
                      <c:pt idx="2">
                        <c:v>28.94736842105263</c:v>
                      </c:pt>
                      <c:pt idx="3">
                        <c:v>27.263157894736842</c:v>
                      </c:pt>
                      <c:pt idx="4">
                        <c:v>26.684210526315791</c:v>
                      </c:pt>
                      <c:pt idx="5">
                        <c:v>28.157894736842106</c:v>
                      </c:pt>
                      <c:pt idx="6">
                        <c:v>28.210526315789473</c:v>
                      </c:pt>
                      <c:pt idx="7">
                        <c:v>28.631578947368421</c:v>
                      </c:pt>
                      <c:pt idx="8">
                        <c:v>24.210526315789473</c:v>
                      </c:pt>
                      <c:pt idx="9">
                        <c:v>24.105263157894736</c:v>
                      </c:pt>
                      <c:pt idx="10">
                        <c:v>24.894736842105264</c:v>
                      </c:pt>
                      <c:pt idx="11">
                        <c:v>25.94736842105263</c:v>
                      </c:pt>
                      <c:pt idx="12">
                        <c:v>26.631578947368421</c:v>
                      </c:pt>
                      <c:pt idx="13">
                        <c:v>27.421052631578949</c:v>
                      </c:pt>
                      <c:pt idx="14">
                        <c:v>25</c:v>
                      </c:pt>
                      <c:pt idx="15">
                        <c:v>28.684210526315791</c:v>
                      </c:pt>
                      <c:pt idx="16">
                        <c:v>28.684210526315791</c:v>
                      </c:pt>
                      <c:pt idx="17">
                        <c:v>31.473684210526315</c:v>
                      </c:pt>
                      <c:pt idx="18">
                        <c:v>28.421052631578949</c:v>
                      </c:pt>
                      <c:pt idx="19">
                        <c:v>23.736842105263158</c:v>
                      </c:pt>
                      <c:pt idx="20">
                        <c:v>25.94736842105263</c:v>
                      </c:pt>
                      <c:pt idx="21">
                        <c:v>22</c:v>
                      </c:pt>
                      <c:pt idx="22">
                        <c:v>21.473684210526315</c:v>
                      </c:pt>
                      <c:pt idx="23">
                        <c:v>19.421052631578949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7A9-44E3-91AE-13666104BA91}"/>
                  </c:ext>
                </c:extLst>
              </c15:ser>
            </c15:filteredBarSeries>
          </c:ext>
        </c:extLst>
      </c:barChart>
      <c:catAx>
        <c:axId val="329078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077952"/>
        <c:crosses val="autoZero"/>
        <c:auto val="1"/>
        <c:lblAlgn val="ctr"/>
        <c:lblOffset val="100"/>
        <c:noMultiLvlLbl val="0"/>
      </c:catAx>
      <c:valAx>
        <c:axId val="329077952"/>
        <c:scaling>
          <c:orientation val="minMax"/>
          <c:max val="0.9500000000000000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078784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208528910699269E-2"/>
          <c:y val="2.4287794231133933E-2"/>
          <c:w val="0.50681761762789379"/>
          <c:h val="5.16354452850618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800">
          <a:solidFill>
            <a:sysClr val="windowText" lastClr="000000"/>
          </a:solidFill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900886515059741E-2"/>
          <c:y val="0.13315552380596976"/>
          <c:w val="0.94471449810032482"/>
          <c:h val="0.612851490305290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전체_칭찬불만건수!$W$2</c:f>
              <c:strCache>
                <c:ptCount val="1"/>
                <c:pt idx="0">
                  <c:v>칭찬총계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전체_칭찬불만건수!$A$28:$B$54</c:f>
              <c:multiLvlStrCache>
                <c:ptCount val="27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</c:lvl>
                <c:lvl>
                  <c:pt idx="0">
                    <c:v>2024년</c:v>
                  </c:pt>
                  <c:pt idx="12">
                    <c:v>2025년</c:v>
                  </c:pt>
                  <c:pt idx="24">
                    <c:v>2026년</c:v>
                  </c:pt>
                </c:lvl>
              </c:multiLvlStrCache>
            </c:multiLvlStrRef>
          </c:cat>
          <c:val>
            <c:numRef>
              <c:f>전체_칭찬불만건수!$W$28:$W$54</c:f>
              <c:numCache>
                <c:formatCode>General</c:formatCode>
                <c:ptCount val="27"/>
                <c:pt idx="0">
                  <c:v>549</c:v>
                </c:pt>
                <c:pt idx="1">
                  <c:v>531</c:v>
                </c:pt>
                <c:pt idx="2">
                  <c:v>550</c:v>
                </c:pt>
                <c:pt idx="3">
                  <c:v>518</c:v>
                </c:pt>
                <c:pt idx="4">
                  <c:v>507</c:v>
                </c:pt>
                <c:pt idx="5">
                  <c:v>535</c:v>
                </c:pt>
                <c:pt idx="6">
                  <c:v>536</c:v>
                </c:pt>
                <c:pt idx="7">
                  <c:v>544</c:v>
                </c:pt>
                <c:pt idx="8">
                  <c:v>460</c:v>
                </c:pt>
                <c:pt idx="9">
                  <c:v>458</c:v>
                </c:pt>
                <c:pt idx="10">
                  <c:v>473</c:v>
                </c:pt>
                <c:pt idx="11">
                  <c:v>493</c:v>
                </c:pt>
                <c:pt idx="12">
                  <c:v>506</c:v>
                </c:pt>
                <c:pt idx="13">
                  <c:v>521</c:v>
                </c:pt>
                <c:pt idx="14">
                  <c:v>475</c:v>
                </c:pt>
                <c:pt idx="15">
                  <c:v>545</c:v>
                </c:pt>
                <c:pt idx="16">
                  <c:v>545</c:v>
                </c:pt>
                <c:pt idx="17">
                  <c:v>598</c:v>
                </c:pt>
                <c:pt idx="18">
                  <c:v>540</c:v>
                </c:pt>
                <c:pt idx="19">
                  <c:v>451</c:v>
                </c:pt>
                <c:pt idx="20">
                  <c:v>493</c:v>
                </c:pt>
                <c:pt idx="21">
                  <c:v>418</c:v>
                </c:pt>
                <c:pt idx="22">
                  <c:v>408</c:v>
                </c:pt>
                <c:pt idx="23">
                  <c:v>369</c:v>
                </c:pt>
                <c:pt idx="24">
                  <c:v>403</c:v>
                </c:pt>
                <c:pt idx="25">
                  <c:v>428</c:v>
                </c:pt>
                <c:pt idx="26">
                  <c:v>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F9-414C-A21E-FCD498208B0B}"/>
            </c:ext>
          </c:extLst>
        </c:ser>
        <c:ser>
          <c:idx val="3"/>
          <c:order val="1"/>
          <c:tx>
            <c:strRef>
              <c:f>전체_칭찬불만건수!$Z$2</c:f>
              <c:strCache>
                <c:ptCount val="1"/>
                <c:pt idx="0">
                  <c:v>수술(칭찬)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전체_칭찬불만건수!$A$28:$B$54</c:f>
              <c:multiLvlStrCache>
                <c:ptCount val="27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</c:lvl>
                <c:lvl>
                  <c:pt idx="0">
                    <c:v>2024년</c:v>
                  </c:pt>
                  <c:pt idx="12">
                    <c:v>2025년</c:v>
                  </c:pt>
                  <c:pt idx="24">
                    <c:v>2026년</c:v>
                  </c:pt>
                </c:lvl>
              </c:multiLvlStrCache>
            </c:multiLvlStrRef>
          </c:cat>
          <c:val>
            <c:numRef>
              <c:f>전체_칭찬불만건수!$Z$28:$Z$54</c:f>
              <c:numCache>
                <c:formatCode>General</c:formatCode>
                <c:ptCount val="27"/>
                <c:pt idx="0">
                  <c:v>278</c:v>
                </c:pt>
                <c:pt idx="1">
                  <c:v>270</c:v>
                </c:pt>
                <c:pt idx="2">
                  <c:v>274</c:v>
                </c:pt>
                <c:pt idx="3">
                  <c:v>241</c:v>
                </c:pt>
                <c:pt idx="4">
                  <c:v>244</c:v>
                </c:pt>
                <c:pt idx="5">
                  <c:v>241</c:v>
                </c:pt>
                <c:pt idx="6">
                  <c:v>283</c:v>
                </c:pt>
                <c:pt idx="7">
                  <c:v>291</c:v>
                </c:pt>
                <c:pt idx="8">
                  <c:v>239</c:v>
                </c:pt>
                <c:pt idx="9">
                  <c:v>263</c:v>
                </c:pt>
                <c:pt idx="10">
                  <c:v>255</c:v>
                </c:pt>
                <c:pt idx="11">
                  <c:v>297</c:v>
                </c:pt>
                <c:pt idx="12">
                  <c:v>281</c:v>
                </c:pt>
                <c:pt idx="13">
                  <c:v>283</c:v>
                </c:pt>
                <c:pt idx="14">
                  <c:v>242</c:v>
                </c:pt>
                <c:pt idx="15">
                  <c:v>289</c:v>
                </c:pt>
                <c:pt idx="16">
                  <c:v>282</c:v>
                </c:pt>
                <c:pt idx="17">
                  <c:v>310</c:v>
                </c:pt>
                <c:pt idx="18">
                  <c:v>281</c:v>
                </c:pt>
                <c:pt idx="19">
                  <c:v>261</c:v>
                </c:pt>
                <c:pt idx="20">
                  <c:v>276</c:v>
                </c:pt>
                <c:pt idx="21">
                  <c:v>209</c:v>
                </c:pt>
                <c:pt idx="22">
                  <c:v>201</c:v>
                </c:pt>
                <c:pt idx="23">
                  <c:v>193</c:v>
                </c:pt>
                <c:pt idx="24">
                  <c:v>218</c:v>
                </c:pt>
                <c:pt idx="25">
                  <c:v>215</c:v>
                </c:pt>
                <c:pt idx="26">
                  <c:v>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F9-414C-A21E-FCD498208B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91490575"/>
        <c:axId val="1291478927"/>
        <c:extLst/>
      </c:barChart>
      <c:catAx>
        <c:axId val="1291490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1478927"/>
        <c:crosses val="autoZero"/>
        <c:auto val="1"/>
        <c:lblAlgn val="ctr"/>
        <c:lblOffset val="100"/>
        <c:noMultiLvlLbl val="0"/>
      </c:catAx>
      <c:valAx>
        <c:axId val="1291478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1490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7572602282323145"/>
          <c:y val="4.463075735755271E-2"/>
          <c:w val="0.52427397717676849"/>
          <c:h val="5.86717506720255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 sz="800">
          <a:solidFill>
            <a:sysClr val="windowText" lastClr="000000"/>
          </a:solidFill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900886515059741E-2"/>
          <c:y val="0.16574567204379714"/>
          <c:w val="0.94471449810032482"/>
          <c:h val="0.50091329614455071"/>
        </c:manualLayout>
      </c:layout>
      <c:lineChart>
        <c:grouping val="standard"/>
        <c:varyColors val="0"/>
        <c:ser>
          <c:idx val="6"/>
          <c:order val="0"/>
          <c:tx>
            <c:strRef>
              <c:f>전체_칭찬불만건수!$AC$2</c:f>
              <c:strCache>
                <c:ptCount val="1"/>
                <c:pt idx="0">
                  <c:v>수술(불만)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multiLvlStrRef>
              <c:f>전체_칭찬불만건수!$A$28:$B$54</c:f>
              <c:multiLvlStrCache>
                <c:ptCount val="27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</c:lvl>
                <c:lvl>
                  <c:pt idx="0">
                    <c:v>2024년</c:v>
                  </c:pt>
                  <c:pt idx="12">
                    <c:v>2025년</c:v>
                  </c:pt>
                  <c:pt idx="24">
                    <c:v>2026년</c:v>
                  </c:pt>
                </c:lvl>
              </c:multiLvlStrCache>
            </c:multiLvlStrRef>
          </c:cat>
          <c:val>
            <c:numRef>
              <c:f>전체_칭찬불만건수!$AC$28:$AC$54</c:f>
              <c:numCache>
                <c:formatCode>General</c:formatCode>
                <c:ptCount val="27"/>
                <c:pt idx="0">
                  <c:v>11</c:v>
                </c:pt>
                <c:pt idx="1">
                  <c:v>16</c:v>
                </c:pt>
                <c:pt idx="3">
                  <c:v>18</c:v>
                </c:pt>
                <c:pt idx="4">
                  <c:v>24</c:v>
                </c:pt>
                <c:pt idx="5">
                  <c:v>22</c:v>
                </c:pt>
                <c:pt idx="6">
                  <c:v>27</c:v>
                </c:pt>
                <c:pt idx="7">
                  <c:v>7</c:v>
                </c:pt>
                <c:pt idx="8">
                  <c:v>12</c:v>
                </c:pt>
                <c:pt idx="9">
                  <c:v>9</c:v>
                </c:pt>
                <c:pt idx="10">
                  <c:v>16</c:v>
                </c:pt>
                <c:pt idx="11">
                  <c:v>27</c:v>
                </c:pt>
                <c:pt idx="12">
                  <c:v>16</c:v>
                </c:pt>
                <c:pt idx="13">
                  <c:v>18</c:v>
                </c:pt>
                <c:pt idx="14">
                  <c:v>13</c:v>
                </c:pt>
                <c:pt idx="15">
                  <c:v>23</c:v>
                </c:pt>
                <c:pt idx="16">
                  <c:v>13</c:v>
                </c:pt>
                <c:pt idx="17">
                  <c:v>18</c:v>
                </c:pt>
                <c:pt idx="18">
                  <c:v>17</c:v>
                </c:pt>
                <c:pt idx="19">
                  <c:v>19</c:v>
                </c:pt>
                <c:pt idx="20">
                  <c:v>12</c:v>
                </c:pt>
                <c:pt idx="21">
                  <c:v>12</c:v>
                </c:pt>
                <c:pt idx="22">
                  <c:v>15</c:v>
                </c:pt>
                <c:pt idx="23">
                  <c:v>24</c:v>
                </c:pt>
                <c:pt idx="24">
                  <c:v>12</c:v>
                </c:pt>
                <c:pt idx="25">
                  <c:v>15</c:v>
                </c:pt>
                <c:pt idx="26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F9-414C-A21E-FCD498208B0B}"/>
            </c:ext>
          </c:extLst>
        </c:ser>
        <c:ser>
          <c:idx val="9"/>
          <c:order val="1"/>
          <c:tx>
            <c:strRef>
              <c:f>전체_칭찬불만건수!$AF$2</c:f>
              <c:strCache>
                <c:ptCount val="1"/>
                <c:pt idx="0">
                  <c:v>불만총계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multiLvlStrRef>
              <c:f>전체_칭찬불만건수!$A$28:$B$54</c:f>
              <c:multiLvlStrCache>
                <c:ptCount val="27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  <c:pt idx="12">
                    <c:v>1월</c:v>
                  </c:pt>
                  <c:pt idx="13">
                    <c:v>2월</c:v>
                  </c:pt>
                  <c:pt idx="14">
                    <c:v>3월</c:v>
                  </c:pt>
                  <c:pt idx="15">
                    <c:v>4월</c:v>
                  </c:pt>
                  <c:pt idx="16">
                    <c:v>5월</c:v>
                  </c:pt>
                  <c:pt idx="17">
                    <c:v>6월</c:v>
                  </c:pt>
                  <c:pt idx="18">
                    <c:v>7월</c:v>
                  </c:pt>
                  <c:pt idx="19">
                    <c:v>8월</c:v>
                  </c:pt>
                  <c:pt idx="20">
                    <c:v>9월</c:v>
                  </c:pt>
                  <c:pt idx="21">
                    <c:v>10월</c:v>
                  </c:pt>
                  <c:pt idx="22">
                    <c:v>11월</c:v>
                  </c:pt>
                  <c:pt idx="23">
                    <c:v>12월</c:v>
                  </c:pt>
                  <c:pt idx="24">
                    <c:v>1월</c:v>
                  </c:pt>
                  <c:pt idx="25">
                    <c:v>2월</c:v>
                  </c:pt>
                  <c:pt idx="26">
                    <c:v>3월</c:v>
                  </c:pt>
                </c:lvl>
                <c:lvl>
                  <c:pt idx="0">
                    <c:v>2024년</c:v>
                  </c:pt>
                  <c:pt idx="12">
                    <c:v>2025년</c:v>
                  </c:pt>
                  <c:pt idx="24">
                    <c:v>2026년</c:v>
                  </c:pt>
                </c:lvl>
              </c:multiLvlStrCache>
            </c:multiLvlStrRef>
          </c:cat>
          <c:val>
            <c:numRef>
              <c:f>전체_칭찬불만건수!$AF$28:$AF$54</c:f>
              <c:numCache>
                <c:formatCode>General</c:formatCode>
                <c:ptCount val="27"/>
                <c:pt idx="0">
                  <c:v>21</c:v>
                </c:pt>
                <c:pt idx="1">
                  <c:v>33</c:v>
                </c:pt>
                <c:pt idx="2">
                  <c:v>14</c:v>
                </c:pt>
                <c:pt idx="3">
                  <c:v>26</c:v>
                </c:pt>
                <c:pt idx="4">
                  <c:v>39</c:v>
                </c:pt>
                <c:pt idx="5">
                  <c:v>27</c:v>
                </c:pt>
                <c:pt idx="6">
                  <c:v>40</c:v>
                </c:pt>
                <c:pt idx="7">
                  <c:v>16</c:v>
                </c:pt>
                <c:pt idx="8">
                  <c:v>17</c:v>
                </c:pt>
                <c:pt idx="9">
                  <c:v>22</c:v>
                </c:pt>
                <c:pt idx="10">
                  <c:v>34</c:v>
                </c:pt>
                <c:pt idx="11">
                  <c:v>36</c:v>
                </c:pt>
                <c:pt idx="12">
                  <c:v>29</c:v>
                </c:pt>
                <c:pt idx="13">
                  <c:v>29</c:v>
                </c:pt>
                <c:pt idx="14">
                  <c:v>34</c:v>
                </c:pt>
                <c:pt idx="15">
                  <c:v>54</c:v>
                </c:pt>
                <c:pt idx="16">
                  <c:v>32</c:v>
                </c:pt>
                <c:pt idx="17">
                  <c:v>36</c:v>
                </c:pt>
                <c:pt idx="18">
                  <c:v>35</c:v>
                </c:pt>
                <c:pt idx="19">
                  <c:v>25</c:v>
                </c:pt>
                <c:pt idx="20">
                  <c:v>21</c:v>
                </c:pt>
                <c:pt idx="21">
                  <c:v>21</c:v>
                </c:pt>
                <c:pt idx="22">
                  <c:v>22</c:v>
                </c:pt>
                <c:pt idx="23">
                  <c:v>40</c:v>
                </c:pt>
                <c:pt idx="24">
                  <c:v>22</c:v>
                </c:pt>
                <c:pt idx="25">
                  <c:v>29</c:v>
                </c:pt>
                <c:pt idx="26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1F9-414C-A21E-FCD498208B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1490575"/>
        <c:axId val="1291478927"/>
      </c:lineChart>
      <c:catAx>
        <c:axId val="1291490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1478927"/>
        <c:crosses val="autoZero"/>
        <c:auto val="1"/>
        <c:lblAlgn val="ctr"/>
        <c:lblOffset val="100"/>
        <c:noMultiLvlLbl val="0"/>
      </c:catAx>
      <c:valAx>
        <c:axId val="1291478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1490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7572602282323145"/>
          <c:y val="4.463075735755271E-2"/>
          <c:w val="0.52427397717676849"/>
          <c:h val="0.117334047752121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 b="0">
          <a:solidFill>
            <a:sysClr val="windowText" lastClr="000000"/>
          </a:solidFill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2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31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92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90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14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17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48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64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20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48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01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DA691-7D0D-423B-86EA-C6F2CDBA47D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6051E-E47D-4287-AB4E-9B9CC9C28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83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71061" y="1282331"/>
            <a:ext cx="4348716" cy="2174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모바일만족도 참여율 그래프 표시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34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메인대시보드</a:t>
            </a:r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50874" y="1486855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전체보기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50874" y="2128422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모바일만족도 참여율</a:t>
            </a:r>
            <a:endParaRPr lang="ko-KR" altLang="en-US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350874" y="3371556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칭찬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불만 현황</a:t>
            </a:r>
            <a:endParaRPr lang="ko-KR" altLang="en-US" sz="1400" dirty="0"/>
          </a:p>
        </p:txBody>
      </p:sp>
      <p:sp>
        <p:nvSpPr>
          <p:cNvPr id="12" name="직사각형 11"/>
          <p:cNvSpPr/>
          <p:nvPr/>
        </p:nvSpPr>
        <p:spPr>
          <a:xfrm>
            <a:off x="350874" y="4013123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VOC</a:t>
            </a:r>
            <a:r>
              <a:rPr lang="ko-KR" altLang="en-US" sz="1400" dirty="0" smtClean="0"/>
              <a:t>업로드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게시판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2371057" y="846395"/>
            <a:ext cx="4348719" cy="435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1. </a:t>
            </a:r>
            <a:r>
              <a:rPr lang="ko-KR" altLang="en-US" dirty="0" smtClean="0"/>
              <a:t>참여율</a:t>
            </a:r>
            <a:r>
              <a:rPr lang="en-US" altLang="ko-KR" dirty="0" smtClean="0"/>
              <a:t>(</a:t>
            </a:r>
            <a:r>
              <a:rPr lang="ko-KR" altLang="en-US" dirty="0" smtClean="0"/>
              <a:t>최근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개월 평균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n.n</a:t>
            </a:r>
            <a:r>
              <a:rPr lang="en-US" altLang="ko-KR" dirty="0" smtClean="0"/>
              <a:t>%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2371061" y="4153048"/>
            <a:ext cx="4348716" cy="223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최근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개월 칭찬 개수 그래프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2371057" y="3717113"/>
            <a:ext cx="4348720" cy="435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3. </a:t>
            </a:r>
            <a:r>
              <a:rPr lang="ko-KR" altLang="en-US" sz="1600" dirty="0" err="1" smtClean="0"/>
              <a:t>칭찬현황</a:t>
            </a:r>
            <a:r>
              <a:rPr lang="en-US" altLang="ko-KR" sz="1600" dirty="0" smtClean="0"/>
              <a:t> – </a:t>
            </a:r>
            <a:r>
              <a:rPr lang="ko-KR" altLang="en-US" sz="1600" dirty="0" smtClean="0"/>
              <a:t>최근</a:t>
            </a:r>
            <a:r>
              <a:rPr lang="en-US" altLang="ko-KR" sz="1600" dirty="0" smtClean="0"/>
              <a:t>6</a:t>
            </a:r>
            <a:r>
              <a:rPr lang="ko-KR" altLang="en-US" sz="1600" dirty="0" smtClean="0"/>
              <a:t>개월 평균 </a:t>
            </a:r>
            <a:r>
              <a:rPr lang="ko-KR" altLang="en-US" sz="1600" dirty="0" err="1" smtClean="0"/>
              <a:t>칭찬개수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– n</a:t>
            </a:r>
            <a:r>
              <a:rPr lang="ko-KR" altLang="en-US" sz="1600" dirty="0" smtClean="0"/>
              <a:t>건</a:t>
            </a:r>
            <a:endParaRPr lang="ko-KR" altLang="en-US" sz="1600" dirty="0"/>
          </a:p>
        </p:txBody>
      </p:sp>
      <p:sp>
        <p:nvSpPr>
          <p:cNvPr id="22" name="직사각형 21"/>
          <p:cNvSpPr/>
          <p:nvPr/>
        </p:nvSpPr>
        <p:spPr>
          <a:xfrm>
            <a:off x="7293935" y="4153049"/>
            <a:ext cx="4348716" cy="2225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최근</a:t>
            </a:r>
            <a:r>
              <a:rPr lang="en-US" altLang="ko-KR" dirty="0"/>
              <a:t>6</a:t>
            </a:r>
            <a:r>
              <a:rPr lang="ko-KR" altLang="en-US" dirty="0"/>
              <a:t>개월 </a:t>
            </a:r>
            <a:r>
              <a:rPr lang="ko-KR" altLang="en-US" dirty="0" smtClean="0"/>
              <a:t>불만 개수 </a:t>
            </a:r>
            <a:r>
              <a:rPr lang="ko-KR" altLang="en-US" dirty="0"/>
              <a:t>그래프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50874" y="2740001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NPS</a:t>
            </a:r>
            <a:endParaRPr lang="ko-KR" altLang="en-US" sz="1400" dirty="0"/>
          </a:p>
        </p:txBody>
      </p:sp>
      <p:sp>
        <p:nvSpPr>
          <p:cNvPr id="30" name="직사각형 29"/>
          <p:cNvSpPr/>
          <p:nvPr/>
        </p:nvSpPr>
        <p:spPr>
          <a:xfrm>
            <a:off x="7293935" y="1653916"/>
            <a:ext cx="4348716" cy="1802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전지점</a:t>
            </a:r>
            <a:r>
              <a:rPr lang="ko-KR" altLang="en-US" dirty="0" smtClean="0"/>
              <a:t> 모바일만족도 그래프 표시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350874" y="4654690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기타자료현황</a:t>
            </a:r>
            <a:endParaRPr lang="ko-KR" alt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2220818" y="148995"/>
            <a:ext cx="6088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최근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개월 데이터 메인대시보드에 표시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전체지점만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7293932" y="846396"/>
            <a:ext cx="4348719" cy="807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2. NPS(</a:t>
            </a:r>
            <a:r>
              <a:rPr lang="ko-KR" altLang="en-US" sz="1200" dirty="0" smtClean="0"/>
              <a:t>최근</a:t>
            </a:r>
            <a:r>
              <a:rPr lang="en-US" altLang="ko-KR" sz="1200" dirty="0" smtClean="0"/>
              <a:t>6</a:t>
            </a:r>
            <a:r>
              <a:rPr lang="ko-KR" altLang="en-US" sz="1200" dirty="0" smtClean="0"/>
              <a:t>개월 평균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: </a:t>
            </a:r>
          </a:p>
          <a:p>
            <a:pPr algn="ctr"/>
            <a:r>
              <a:rPr lang="ko-KR" altLang="en-US" sz="1200" dirty="0" err="1" smtClean="0"/>
              <a:t>매우만족</a:t>
            </a:r>
            <a:r>
              <a:rPr lang="en-US" altLang="ko-KR" sz="1200" dirty="0" smtClean="0"/>
              <a:t>-</a:t>
            </a:r>
            <a:r>
              <a:rPr lang="en-US" altLang="ko-KR" sz="1200" dirty="0" err="1" smtClean="0"/>
              <a:t>n.n</a:t>
            </a:r>
            <a:r>
              <a:rPr lang="en-US" altLang="ko-KR" sz="1200" dirty="0" smtClean="0"/>
              <a:t>%</a:t>
            </a:r>
          </a:p>
          <a:p>
            <a:pPr algn="ctr"/>
            <a:r>
              <a:rPr lang="en-US" altLang="ko-KR" sz="1200" dirty="0" smtClean="0"/>
              <a:t> </a:t>
            </a:r>
            <a:r>
              <a:rPr lang="ko-KR" altLang="en-US" sz="1200" dirty="0" smtClean="0"/>
              <a:t>만족</a:t>
            </a:r>
            <a:r>
              <a:rPr lang="en-US" altLang="ko-KR" sz="1200" dirty="0" smtClean="0"/>
              <a:t>-</a:t>
            </a:r>
            <a:r>
              <a:rPr lang="en-US" altLang="ko-KR" sz="1200" dirty="0" err="1" smtClean="0"/>
              <a:t>n.n</a:t>
            </a:r>
            <a:r>
              <a:rPr lang="en-US" altLang="ko-KR" sz="1200" dirty="0" smtClean="0"/>
              <a:t>%</a:t>
            </a:r>
          </a:p>
          <a:p>
            <a:pPr algn="ctr"/>
            <a:r>
              <a:rPr lang="en-US" altLang="ko-KR" sz="1200" dirty="0" smtClean="0"/>
              <a:t> </a:t>
            </a:r>
            <a:r>
              <a:rPr lang="ko-KR" altLang="en-US" sz="1200" dirty="0" err="1" smtClean="0"/>
              <a:t>보통이하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n.n</a:t>
            </a:r>
            <a:r>
              <a:rPr lang="en-US" altLang="ko-KR" sz="1200" dirty="0" smtClean="0"/>
              <a:t>%</a:t>
            </a:r>
            <a:endParaRPr lang="ko-KR" altLang="en-US" sz="1200" dirty="0"/>
          </a:p>
        </p:txBody>
      </p:sp>
      <p:sp>
        <p:nvSpPr>
          <p:cNvPr id="27" name="직사각형 26"/>
          <p:cNvSpPr/>
          <p:nvPr/>
        </p:nvSpPr>
        <p:spPr>
          <a:xfrm>
            <a:off x="7293931" y="3717113"/>
            <a:ext cx="4348720" cy="435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3. </a:t>
            </a:r>
            <a:r>
              <a:rPr lang="ko-KR" altLang="en-US" sz="1600" dirty="0" err="1" smtClean="0"/>
              <a:t>불만현황</a:t>
            </a:r>
            <a:r>
              <a:rPr lang="en-US" altLang="ko-KR" sz="1600" dirty="0" smtClean="0"/>
              <a:t> – </a:t>
            </a:r>
            <a:r>
              <a:rPr lang="ko-KR" altLang="en-US" sz="1600" dirty="0" smtClean="0"/>
              <a:t>최근</a:t>
            </a:r>
            <a:r>
              <a:rPr lang="en-US" altLang="ko-KR" sz="1600" dirty="0" smtClean="0"/>
              <a:t>6</a:t>
            </a:r>
            <a:r>
              <a:rPr lang="ko-KR" altLang="en-US" sz="1600" dirty="0" smtClean="0"/>
              <a:t>개월 평균 </a:t>
            </a:r>
            <a:r>
              <a:rPr lang="ko-KR" altLang="en-US" sz="1600" dirty="0" err="1" smtClean="0"/>
              <a:t>불만개수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– n</a:t>
            </a:r>
            <a:r>
              <a:rPr lang="ko-KR" altLang="en-US" sz="1600" dirty="0" smtClean="0"/>
              <a:t>건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1258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73348" y="-16315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371061" y="1466578"/>
            <a:ext cx="9686260" cy="5083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 err="1" smtClean="0"/>
              <a:t>기본표시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그래프값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꺽은선</a:t>
            </a:r>
            <a:r>
              <a:rPr lang="ko-KR" altLang="en-US" sz="1400" dirty="0" smtClean="0"/>
              <a:t> 그래프</a:t>
            </a:r>
            <a:r>
              <a:rPr lang="en-US" altLang="ko-KR" sz="1400" dirty="0"/>
              <a:t>)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전체 모바일 만족도 참여율</a:t>
            </a:r>
            <a:endParaRPr lang="en-US" altLang="ko-KR" sz="1400" dirty="0" smtClean="0"/>
          </a:p>
          <a:p>
            <a:pPr algn="ctr"/>
            <a:r>
              <a:rPr lang="ko-KR" altLang="en-US" sz="1400" dirty="0" err="1" smtClean="0"/>
              <a:t>필터값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필터에 </a:t>
            </a:r>
            <a:r>
              <a:rPr lang="ko-KR" altLang="en-US" sz="1400" dirty="0"/>
              <a:t>따른 참여율 </a:t>
            </a:r>
            <a:r>
              <a:rPr lang="ko-KR" altLang="en-US" sz="1400" dirty="0" smtClean="0"/>
              <a:t>그래프로 변경되게 세팅</a:t>
            </a:r>
            <a:endParaRPr lang="ko-KR" altLang="en-US" sz="1400" dirty="0"/>
          </a:p>
        </p:txBody>
      </p:sp>
      <p:sp>
        <p:nvSpPr>
          <p:cNvPr id="13" name="직사각형 12"/>
          <p:cNvSpPr/>
          <p:nvPr/>
        </p:nvSpPr>
        <p:spPr>
          <a:xfrm>
            <a:off x="350874" y="2128422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모바일만족도 참여율</a:t>
            </a:r>
            <a:endParaRPr lang="ko-KR" altLang="en-US" sz="1400" dirty="0"/>
          </a:p>
        </p:txBody>
      </p:sp>
      <p:graphicFrame>
        <p:nvGraphicFramePr>
          <p:cNvPr id="12" name="차트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687642"/>
              </p:ext>
            </p:extLst>
          </p:nvPr>
        </p:nvGraphicFramePr>
        <p:xfrm>
          <a:off x="3463026" y="2030819"/>
          <a:ext cx="8509233" cy="3785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054" y="4019787"/>
            <a:ext cx="5352747" cy="276999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전체 참여율 계산법</a:t>
            </a:r>
            <a:r>
              <a:rPr lang="en-US" altLang="ko-KR" sz="1200" dirty="0" smtClean="0"/>
              <a:t>(%)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= </a:t>
            </a:r>
            <a:r>
              <a:rPr lang="ko-KR" altLang="en-US" sz="1200" dirty="0" smtClean="0"/>
              <a:t>참여자 수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참여대상 </a:t>
            </a:r>
            <a:r>
              <a:rPr lang="en-US" altLang="ko-KR" sz="1200" dirty="0" smtClean="0"/>
              <a:t>– </a:t>
            </a:r>
            <a:r>
              <a:rPr lang="ko-KR" altLang="en-US" sz="1200" dirty="0" smtClean="0"/>
              <a:t>소수점 </a:t>
            </a:r>
            <a:r>
              <a:rPr lang="ko-KR" altLang="en-US" sz="1200" dirty="0" err="1" smtClean="0"/>
              <a:t>첫째자리</a:t>
            </a:r>
            <a:r>
              <a:rPr lang="ko-KR" altLang="en-US" sz="1200" dirty="0" smtClean="0"/>
              <a:t> 까지 표시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371060" y="251957"/>
            <a:ext cx="2247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PPT 6</a:t>
            </a:r>
            <a:r>
              <a:rPr lang="ko-KR" altLang="en-US" sz="1100" dirty="0" smtClean="0"/>
              <a:t>번 페이지 데이터에서 계산</a:t>
            </a:r>
            <a:endParaRPr lang="ko-KR" altLang="en-US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5296685" y="5998166"/>
            <a:ext cx="425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가로축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필터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기간</a:t>
            </a:r>
            <a:r>
              <a:rPr lang="en-US" altLang="ko-KR" dirty="0" smtClean="0"/>
              <a:t>/</a:t>
            </a:r>
            <a:r>
              <a:rPr lang="ko-KR" altLang="en-US" dirty="0" smtClean="0"/>
              <a:t>선택 </a:t>
            </a:r>
            <a:r>
              <a:rPr lang="ko-KR" altLang="en-US" dirty="0" err="1" smtClean="0"/>
              <a:t>지점군과</a:t>
            </a:r>
            <a:r>
              <a:rPr lang="ko-KR" altLang="en-US" dirty="0" smtClean="0"/>
              <a:t> 지점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371060" y="3631100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세로축 </a:t>
            </a:r>
            <a:r>
              <a:rPr lang="en-US" altLang="ko-KR" dirty="0" smtClean="0"/>
              <a:t>: </a:t>
            </a:r>
          </a:p>
          <a:p>
            <a:r>
              <a:rPr lang="ko-KR" altLang="en-US" dirty="0" smtClean="0"/>
              <a:t>참여율</a:t>
            </a:r>
            <a:r>
              <a:rPr lang="en-US" altLang="ko-KR" dirty="0" smtClean="0"/>
              <a:t>%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2165697" y="795233"/>
            <a:ext cx="9891624" cy="605848"/>
            <a:chOff x="2165697" y="4346508"/>
            <a:chExt cx="9891624" cy="605848"/>
          </a:xfrm>
        </p:grpSpPr>
        <p:sp>
          <p:nvSpPr>
            <p:cNvPr id="26" name="직사각형 25"/>
            <p:cNvSpPr/>
            <p:nvPr/>
          </p:nvSpPr>
          <p:spPr>
            <a:xfrm>
              <a:off x="2371060" y="4412007"/>
              <a:ext cx="2307266" cy="5403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▼</a:t>
              </a:r>
              <a:r>
                <a:rPr lang="ko-KR" altLang="en-US" sz="1400" dirty="0" err="1" smtClean="0"/>
                <a:t>기간선택</a:t>
              </a:r>
              <a:r>
                <a:rPr lang="en-US" altLang="ko-KR" sz="1400" dirty="0" smtClean="0"/>
                <a:t>(</a:t>
              </a:r>
              <a:r>
                <a:rPr lang="ko-KR" altLang="en-US" sz="1400" dirty="0" smtClean="0"/>
                <a:t>연도</a:t>
              </a:r>
              <a:r>
                <a:rPr lang="en-US" altLang="ko-KR" sz="1400" dirty="0" smtClean="0"/>
                <a:t>, </a:t>
              </a:r>
              <a:r>
                <a:rPr lang="ko-KR" altLang="en-US" sz="1400" dirty="0" smtClean="0"/>
                <a:t>월</a:t>
              </a:r>
              <a:r>
                <a:rPr lang="en-US" altLang="ko-KR" sz="1400" dirty="0" smtClean="0"/>
                <a:t>)</a:t>
              </a:r>
            </a:p>
            <a:p>
              <a:pPr algn="ctr"/>
              <a:r>
                <a:rPr lang="ko-KR" altLang="en-US" sz="1000" dirty="0" smtClean="0"/>
                <a:t>월의 기준 </a:t>
              </a:r>
              <a:r>
                <a:rPr lang="en-US" altLang="ko-KR" sz="1000" dirty="0" smtClean="0"/>
                <a:t>: </a:t>
              </a:r>
              <a:r>
                <a:rPr lang="ko-KR" altLang="en-US" sz="1000" dirty="0" smtClean="0"/>
                <a:t>전월 </a:t>
              </a:r>
              <a:r>
                <a:rPr lang="en-US" altLang="ko-KR" sz="1000" dirty="0" smtClean="0"/>
                <a:t>26</a:t>
              </a:r>
              <a:r>
                <a:rPr lang="ko-KR" altLang="en-US" sz="1000" dirty="0" smtClean="0"/>
                <a:t>일</a:t>
              </a:r>
              <a:r>
                <a:rPr lang="en-US" altLang="ko-KR" sz="1000" dirty="0" smtClean="0"/>
                <a:t>~</a:t>
              </a:r>
              <a:r>
                <a:rPr lang="ko-KR" altLang="en-US" sz="1000" dirty="0" smtClean="0"/>
                <a:t>당월</a:t>
              </a:r>
              <a:r>
                <a:rPr lang="en-US" altLang="ko-KR" sz="1000" dirty="0" smtClean="0"/>
                <a:t>25</a:t>
              </a:r>
              <a:r>
                <a:rPr lang="ko-KR" altLang="en-US" sz="1000" dirty="0" smtClean="0"/>
                <a:t>일까지</a:t>
              </a:r>
              <a:endParaRPr lang="ko-KR" altLang="en-US" sz="1000" dirty="0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965405" y="4412008"/>
              <a:ext cx="1754372" cy="5403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/>
                <a:t>▼ </a:t>
              </a:r>
              <a:r>
                <a:rPr lang="ko-KR" altLang="en-US" sz="1050" dirty="0" err="1" smtClean="0"/>
                <a:t>대분류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지점군</a:t>
              </a:r>
              <a:r>
                <a:rPr lang="ko-KR" altLang="en-US" sz="1050" dirty="0" smtClean="0"/>
                <a:t> 선택</a:t>
              </a:r>
              <a:r>
                <a:rPr lang="en-US" altLang="ko-KR" sz="1050" dirty="0" smtClean="0"/>
                <a:t>(</a:t>
              </a:r>
              <a:r>
                <a:rPr lang="ko-KR" altLang="en-US" sz="1050" dirty="0" smtClean="0"/>
                <a:t>필수</a:t>
              </a:r>
              <a:r>
                <a:rPr lang="en-US" altLang="ko-KR" sz="1050" dirty="0" smtClean="0"/>
                <a:t>)</a:t>
              </a:r>
            </a:p>
            <a:p>
              <a:pPr algn="ctr"/>
              <a:r>
                <a:rPr lang="ko-KR" altLang="en-US" sz="1050" dirty="0" err="1" smtClean="0"/>
                <a:t>전체선택</a:t>
              </a:r>
              <a:r>
                <a:rPr lang="ko-KR" altLang="en-US" sz="1050" dirty="0" smtClean="0"/>
                <a:t> 옵션</a:t>
              </a:r>
              <a:endParaRPr lang="ko-KR" altLang="en-US" sz="1050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911163" y="4412008"/>
              <a:ext cx="1754372" cy="5403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smtClean="0"/>
                <a:t>▼ 중분류 </a:t>
              </a:r>
              <a:endParaRPr lang="en-US" altLang="ko-KR" sz="1100" dirty="0" smtClean="0"/>
            </a:p>
            <a:p>
              <a:pPr algn="ctr"/>
              <a:r>
                <a:rPr lang="ko-KR" altLang="en-US" sz="1100" dirty="0" err="1" smtClean="0"/>
                <a:t>지점선택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선택</a:t>
              </a:r>
              <a:r>
                <a:rPr lang="en-US" altLang="ko-KR" sz="1100" dirty="0" smtClean="0"/>
                <a:t>)</a:t>
              </a:r>
              <a:endParaRPr lang="ko-KR" altLang="en-US" sz="1100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8856921" y="4346509"/>
              <a:ext cx="3200400" cy="605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 smtClean="0"/>
                <a:t>이번달</a:t>
              </a:r>
              <a:r>
                <a:rPr lang="ko-KR" altLang="en-US" sz="1400" dirty="0" smtClean="0"/>
                <a:t> 참여율 </a:t>
              </a:r>
              <a:r>
                <a:rPr lang="en-US" altLang="ko-KR" sz="1400" dirty="0" smtClean="0"/>
                <a:t>: </a:t>
              </a:r>
              <a:r>
                <a:rPr lang="en-US" altLang="ko-KR" sz="1400" dirty="0" err="1" smtClean="0"/>
                <a:t>n.n</a:t>
              </a:r>
              <a:r>
                <a:rPr lang="en-US" altLang="ko-KR" sz="1400" dirty="0" smtClean="0"/>
                <a:t>%</a:t>
              </a:r>
            </a:p>
            <a:p>
              <a:pPr algn="ctr"/>
              <a:r>
                <a:rPr lang="en-US" altLang="ko-KR" sz="1400" dirty="0" smtClean="0"/>
                <a:t>(</a:t>
              </a:r>
              <a:r>
                <a:rPr lang="ko-KR" altLang="en-US" sz="1050" dirty="0" err="1" smtClean="0"/>
                <a:t>필터값에</a:t>
              </a:r>
              <a:r>
                <a:rPr lang="ko-KR" altLang="en-US" sz="1050" dirty="0" smtClean="0"/>
                <a:t> 해당 내용 계산해서 보이는 </a:t>
              </a:r>
              <a:r>
                <a:rPr lang="ko-KR" altLang="en-US" sz="1050" dirty="0" err="1" smtClean="0"/>
                <a:t>스코어카드</a:t>
              </a:r>
              <a:r>
                <a:rPr lang="en-US" altLang="ko-KR" sz="1050" dirty="0" smtClean="0"/>
                <a:t>)</a:t>
              </a:r>
              <a:endParaRPr lang="ko-KR" altLang="en-US" sz="105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65697" y="4346508"/>
              <a:ext cx="492443" cy="276999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/>
                <a:t>필터</a:t>
              </a:r>
              <a:endParaRPr lang="ko-KR" altLang="en-US" sz="12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19182" y="4346508"/>
              <a:ext cx="492443" cy="276999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/>
                <a:t>필터</a:t>
              </a:r>
              <a:endParaRPr lang="ko-KR" altLang="en-US" sz="12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60634" y="4346508"/>
              <a:ext cx="492443" cy="276999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/>
                <a:t>필터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1511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371061" y="2381693"/>
            <a:ext cx="9686260" cy="2934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600" dirty="0" err="1" smtClean="0"/>
              <a:t>기본표시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그래프값</a:t>
            </a:r>
            <a:r>
              <a:rPr lang="en-US" altLang="ko-KR" sz="1600" dirty="0" smtClean="0"/>
              <a:t>: </a:t>
            </a:r>
            <a:r>
              <a:rPr lang="ko-KR" altLang="en-US" sz="1600" dirty="0"/>
              <a:t>전체 </a:t>
            </a:r>
            <a:r>
              <a:rPr lang="en-US" altLang="ko-KR" sz="1600" dirty="0"/>
              <a:t>NPS </a:t>
            </a:r>
            <a:r>
              <a:rPr lang="ko-KR" altLang="en-US" sz="1600" dirty="0"/>
              <a:t>그래프 표시</a:t>
            </a:r>
            <a:endParaRPr lang="en-US" altLang="ko-KR" sz="1600" dirty="0"/>
          </a:p>
          <a:p>
            <a:pPr algn="ctr"/>
            <a:r>
              <a:rPr lang="ko-KR" altLang="en-US" sz="1600" dirty="0" err="1" smtClean="0"/>
              <a:t>필터값</a:t>
            </a:r>
            <a:r>
              <a:rPr lang="ko-KR" altLang="en-US" sz="1600" dirty="0" smtClean="0"/>
              <a:t> </a:t>
            </a:r>
            <a:r>
              <a:rPr lang="en-US" altLang="ko-KR" sz="1600" dirty="0"/>
              <a:t>: </a:t>
            </a:r>
            <a:r>
              <a:rPr lang="ko-KR" altLang="en-US" sz="1600" dirty="0" smtClean="0"/>
              <a:t>필터에 </a:t>
            </a:r>
            <a:r>
              <a:rPr lang="ko-KR" altLang="en-US" sz="1600" dirty="0"/>
              <a:t>따른 </a:t>
            </a:r>
            <a:r>
              <a:rPr lang="en-US" altLang="ko-KR" sz="1600" dirty="0" smtClean="0"/>
              <a:t>NPS </a:t>
            </a:r>
            <a:r>
              <a:rPr lang="ko-KR" altLang="en-US" sz="1600" dirty="0" smtClean="0"/>
              <a:t>그래프로 </a:t>
            </a:r>
            <a:r>
              <a:rPr lang="ko-KR" altLang="en-US" sz="1600" dirty="0"/>
              <a:t>변경되게 세팅</a:t>
            </a:r>
          </a:p>
          <a:p>
            <a:pPr algn="ctr"/>
            <a:endParaRPr lang="ko-KR" altLang="en-US" sz="1600" dirty="0"/>
          </a:p>
        </p:txBody>
      </p:sp>
      <p:sp>
        <p:nvSpPr>
          <p:cNvPr id="37" name="직사각형 36"/>
          <p:cNvSpPr/>
          <p:nvPr/>
        </p:nvSpPr>
        <p:spPr>
          <a:xfrm>
            <a:off x="350874" y="2740001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NPS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245804" y="208169"/>
            <a:ext cx="2247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PPT 8</a:t>
            </a:r>
            <a:r>
              <a:rPr lang="ko-KR" altLang="en-US" sz="1100" dirty="0" smtClean="0"/>
              <a:t>번 페이지 데이터에서 계산</a:t>
            </a:r>
            <a:endParaRPr lang="ko-KR" altLang="en-US" sz="1100" dirty="0"/>
          </a:p>
        </p:txBody>
      </p:sp>
      <p:sp>
        <p:nvSpPr>
          <p:cNvPr id="22" name="직사각형 21"/>
          <p:cNvSpPr/>
          <p:nvPr/>
        </p:nvSpPr>
        <p:spPr>
          <a:xfrm>
            <a:off x="8825023" y="650722"/>
            <a:ext cx="1552353" cy="1530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매우만족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–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n</a:t>
            </a:r>
            <a:r>
              <a:rPr lang="ko-KR" altLang="en-US" sz="1200" dirty="0" smtClean="0"/>
              <a:t>건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만족 </a:t>
            </a:r>
            <a:r>
              <a:rPr lang="en-US" altLang="ko-KR" sz="1200" dirty="0" smtClean="0"/>
              <a:t>- n</a:t>
            </a:r>
            <a:r>
              <a:rPr lang="ko-KR" altLang="en-US" sz="1200" dirty="0" smtClean="0"/>
              <a:t>건</a:t>
            </a:r>
          </a:p>
          <a:p>
            <a:pPr algn="ctr"/>
            <a:r>
              <a:rPr lang="ko-KR" altLang="en-US" sz="1200" dirty="0" err="1" smtClean="0"/>
              <a:t>보통이하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-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n</a:t>
            </a:r>
            <a:r>
              <a:rPr lang="ko-KR" altLang="en-US" sz="1200" dirty="0" smtClean="0"/>
              <a:t>건</a:t>
            </a:r>
            <a:endParaRPr lang="ko-KR" altLang="en-US" sz="1200" dirty="0"/>
          </a:p>
        </p:txBody>
      </p:sp>
      <p:sp>
        <p:nvSpPr>
          <p:cNvPr id="23" name="직사각형 22"/>
          <p:cNvSpPr/>
          <p:nvPr/>
        </p:nvSpPr>
        <p:spPr>
          <a:xfrm>
            <a:off x="10467752" y="650722"/>
            <a:ext cx="1557671" cy="1530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매우만족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-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/>
              <a:t>n.n</a:t>
            </a:r>
            <a:r>
              <a:rPr lang="en-US" altLang="ko-KR" sz="1200" dirty="0" smtClean="0"/>
              <a:t>%</a:t>
            </a:r>
          </a:p>
          <a:p>
            <a:pPr algn="ctr"/>
            <a:r>
              <a:rPr lang="ko-KR" altLang="en-US" sz="1200" dirty="0" smtClean="0"/>
              <a:t>만족 </a:t>
            </a: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n.n</a:t>
            </a:r>
            <a:r>
              <a:rPr lang="en-US" altLang="ko-KR" sz="1200" dirty="0" smtClean="0"/>
              <a:t>%</a:t>
            </a:r>
            <a:endParaRPr lang="ko-KR" altLang="en-US" sz="1200" dirty="0" smtClean="0"/>
          </a:p>
          <a:p>
            <a:pPr algn="ctr"/>
            <a:r>
              <a:rPr lang="ko-KR" altLang="en-US" sz="1200" dirty="0" err="1" smtClean="0"/>
              <a:t>보통이하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n.n</a:t>
            </a:r>
            <a:r>
              <a:rPr lang="en-US" altLang="ko-KR" sz="1200" dirty="0" smtClean="0"/>
              <a:t>%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8825023" y="318418"/>
            <a:ext cx="3200400" cy="276999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필터값에</a:t>
            </a:r>
            <a:r>
              <a:rPr lang="ko-KR" altLang="en-US" sz="1200" dirty="0" smtClean="0"/>
              <a:t> 따른 </a:t>
            </a:r>
            <a:r>
              <a:rPr lang="en-US" altLang="ko-KR" sz="1200" dirty="0" err="1" smtClean="0"/>
              <a:t>nps</a:t>
            </a:r>
            <a:r>
              <a:rPr lang="en-US" altLang="ko-KR" sz="1200" dirty="0" smtClean="0"/>
              <a:t> </a:t>
            </a:r>
            <a:r>
              <a:rPr lang="ko-KR" altLang="en-US" sz="1200" dirty="0" err="1" smtClean="0"/>
              <a:t>스코어카드</a:t>
            </a:r>
            <a:endParaRPr lang="ko-KR" alt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5557580" y="4963173"/>
            <a:ext cx="3052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가로축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필터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기간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선택 </a:t>
            </a:r>
            <a:r>
              <a:rPr lang="ko-KR" altLang="en-US" sz="1200" dirty="0" err="1" smtClean="0"/>
              <a:t>대분류와</a:t>
            </a:r>
            <a:r>
              <a:rPr lang="ko-KR" altLang="en-US" sz="1200" dirty="0" smtClean="0"/>
              <a:t> 중분류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2371060" y="3303526"/>
            <a:ext cx="1899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세로축 </a:t>
            </a:r>
            <a:r>
              <a:rPr lang="en-US" altLang="ko-KR" sz="1200" dirty="0" smtClean="0"/>
              <a:t>: </a:t>
            </a:r>
          </a:p>
          <a:p>
            <a:r>
              <a:rPr lang="ko-KR" altLang="en-US" sz="1200" dirty="0" err="1" smtClean="0"/>
              <a:t>매우만족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만족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보통이하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en-US" altLang="ko-KR" sz="1200" dirty="0" smtClean="0"/>
              <a:t>%</a:t>
            </a:r>
            <a:r>
              <a:rPr lang="ko-KR" altLang="en-US" sz="1200" dirty="0" smtClean="0"/>
              <a:t>표시</a:t>
            </a:r>
            <a:endParaRPr lang="ko-KR" altLang="en-US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2165697" y="1498936"/>
            <a:ext cx="6622550" cy="682694"/>
            <a:chOff x="2165697" y="795232"/>
            <a:chExt cx="6622550" cy="682694"/>
          </a:xfrm>
        </p:grpSpPr>
        <p:grpSp>
          <p:nvGrpSpPr>
            <p:cNvPr id="12" name="그룹 11"/>
            <p:cNvGrpSpPr/>
            <p:nvPr/>
          </p:nvGrpSpPr>
          <p:grpSpPr>
            <a:xfrm>
              <a:off x="2165697" y="795233"/>
              <a:ext cx="5208747" cy="682692"/>
              <a:chOff x="2165697" y="4346508"/>
              <a:chExt cx="6415655" cy="682692"/>
            </a:xfrm>
          </p:grpSpPr>
          <p:sp>
            <p:nvSpPr>
              <p:cNvPr id="13" name="직사각형 12"/>
              <p:cNvSpPr/>
              <p:nvPr/>
            </p:nvSpPr>
            <p:spPr>
              <a:xfrm>
                <a:off x="2371060" y="4412006"/>
                <a:ext cx="2483028" cy="6171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/>
                  <a:t>▼</a:t>
                </a:r>
                <a:r>
                  <a:rPr lang="ko-KR" altLang="en-US" sz="1200" dirty="0" err="1" smtClean="0"/>
                  <a:t>기간선택</a:t>
                </a:r>
                <a:r>
                  <a:rPr lang="en-US" altLang="ko-KR" sz="1200" dirty="0" smtClean="0"/>
                  <a:t>(</a:t>
                </a:r>
                <a:r>
                  <a:rPr lang="ko-KR" altLang="en-US" sz="1200" dirty="0" smtClean="0"/>
                  <a:t>연도</a:t>
                </a:r>
                <a:r>
                  <a:rPr lang="en-US" altLang="ko-KR" sz="1200" dirty="0" smtClean="0"/>
                  <a:t>, </a:t>
                </a:r>
                <a:r>
                  <a:rPr lang="ko-KR" altLang="en-US" sz="1200" dirty="0" smtClean="0"/>
                  <a:t>월</a:t>
                </a:r>
                <a:r>
                  <a:rPr lang="en-US" altLang="ko-KR" sz="1200" dirty="0" smtClean="0"/>
                  <a:t>)</a:t>
                </a:r>
              </a:p>
              <a:p>
                <a:pPr algn="ctr"/>
                <a:r>
                  <a:rPr lang="ko-KR" altLang="en-US" sz="900" dirty="0" smtClean="0"/>
                  <a:t>월의 기준 </a:t>
                </a:r>
                <a:r>
                  <a:rPr lang="en-US" altLang="ko-KR" sz="900" dirty="0" smtClean="0"/>
                  <a:t>: </a:t>
                </a:r>
              </a:p>
              <a:p>
                <a:pPr algn="ctr"/>
                <a:r>
                  <a:rPr lang="ko-KR" altLang="en-US" sz="900" dirty="0" smtClean="0"/>
                  <a:t>전월 </a:t>
                </a:r>
                <a:r>
                  <a:rPr lang="en-US" altLang="ko-KR" sz="900" dirty="0" smtClean="0"/>
                  <a:t>26</a:t>
                </a:r>
                <a:r>
                  <a:rPr lang="ko-KR" altLang="en-US" sz="900" dirty="0" smtClean="0"/>
                  <a:t>일</a:t>
                </a:r>
                <a:r>
                  <a:rPr lang="en-US" altLang="ko-KR" sz="900" dirty="0" smtClean="0"/>
                  <a:t>~</a:t>
                </a:r>
                <a:r>
                  <a:rPr lang="ko-KR" altLang="en-US" sz="900" dirty="0" smtClean="0"/>
                  <a:t>당월</a:t>
                </a:r>
                <a:r>
                  <a:rPr lang="en-US" altLang="ko-KR" sz="900" dirty="0" smtClean="0"/>
                  <a:t>25</a:t>
                </a:r>
                <a:r>
                  <a:rPr lang="ko-KR" altLang="en-US" sz="900" dirty="0" smtClean="0"/>
                  <a:t>일까지</a:t>
                </a:r>
                <a:endParaRPr lang="ko-KR" altLang="en-US" sz="900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4965405" y="4412007"/>
                <a:ext cx="1754372" cy="6171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▼ </a:t>
                </a:r>
                <a:r>
                  <a:rPr lang="ko-KR" altLang="en-US" sz="1000" dirty="0" err="1" smtClean="0"/>
                  <a:t>대분류</a:t>
                </a:r>
                <a:endParaRPr lang="en-US" altLang="ko-KR" sz="1000" dirty="0" smtClean="0"/>
              </a:p>
              <a:p>
                <a:pPr algn="ctr"/>
                <a:r>
                  <a:rPr lang="ko-KR" altLang="en-US" sz="1000" dirty="0" err="1" smtClean="0"/>
                  <a:t>지점군</a:t>
                </a:r>
                <a:r>
                  <a:rPr lang="ko-KR" altLang="en-US" sz="1000" dirty="0" smtClean="0"/>
                  <a:t> 선택</a:t>
                </a:r>
                <a:r>
                  <a:rPr lang="en-US" altLang="ko-KR" sz="1000" dirty="0" smtClean="0"/>
                  <a:t>(</a:t>
                </a:r>
                <a:r>
                  <a:rPr lang="ko-KR" altLang="en-US" sz="1000" dirty="0" smtClean="0"/>
                  <a:t>필수</a:t>
                </a:r>
                <a:r>
                  <a:rPr lang="en-US" altLang="ko-KR" sz="1000" dirty="0" smtClean="0"/>
                  <a:t>)</a:t>
                </a:r>
              </a:p>
              <a:p>
                <a:pPr algn="ctr"/>
                <a:r>
                  <a:rPr lang="ko-KR" altLang="en-US" sz="1000" dirty="0" err="1" smtClean="0"/>
                  <a:t>전체선택</a:t>
                </a:r>
                <a:r>
                  <a:rPr lang="ko-KR" altLang="en-US" sz="1000" dirty="0" smtClean="0"/>
                  <a:t> 옵션</a:t>
                </a:r>
                <a:endParaRPr lang="ko-KR" altLang="en-US" sz="1000" dirty="0"/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6826980" y="4412007"/>
                <a:ext cx="1754372" cy="6171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dirty="0" smtClean="0"/>
                  <a:t>▼ 중분류 </a:t>
                </a:r>
                <a:endParaRPr lang="en-US" altLang="ko-KR" sz="1050" dirty="0" smtClean="0"/>
              </a:p>
              <a:p>
                <a:pPr algn="ctr"/>
                <a:r>
                  <a:rPr lang="ko-KR" altLang="en-US" sz="1050" dirty="0" err="1" smtClean="0"/>
                  <a:t>지점선택</a:t>
                </a:r>
                <a:r>
                  <a:rPr lang="en-US" altLang="ko-KR" sz="1050" dirty="0" smtClean="0"/>
                  <a:t>(</a:t>
                </a:r>
                <a:r>
                  <a:rPr lang="ko-KR" altLang="en-US" sz="1050" dirty="0" smtClean="0"/>
                  <a:t>선택</a:t>
                </a:r>
                <a:r>
                  <a:rPr lang="en-US" altLang="ko-KR" sz="1050" dirty="0" smtClean="0"/>
                  <a:t>)</a:t>
                </a:r>
                <a:endParaRPr lang="ko-KR" altLang="en-US" sz="105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165697" y="4346508"/>
                <a:ext cx="574954" cy="261610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smtClean="0"/>
                  <a:t>필터</a:t>
                </a:r>
                <a:endParaRPr lang="ko-KR" altLang="en-US" sz="1100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719183" y="4346508"/>
                <a:ext cx="574954" cy="261610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smtClean="0"/>
                  <a:t>필터</a:t>
                </a:r>
                <a:endParaRPr lang="ko-KR" altLang="en-US" sz="1100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676450" y="4346508"/>
                <a:ext cx="574954" cy="261610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smtClean="0"/>
                  <a:t>필터</a:t>
                </a:r>
                <a:endParaRPr lang="ko-KR" altLang="en-US" sz="1100" dirty="0"/>
              </a:p>
            </p:txBody>
          </p:sp>
        </p:grpSp>
        <p:sp>
          <p:nvSpPr>
            <p:cNvPr id="31" name="직사각형 30"/>
            <p:cNvSpPr/>
            <p:nvPr/>
          </p:nvSpPr>
          <p:spPr>
            <a:xfrm>
              <a:off x="7461480" y="860732"/>
              <a:ext cx="1326767" cy="6171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/>
                <a:t>▼ </a:t>
              </a:r>
              <a:r>
                <a:rPr lang="en-US" altLang="ko-KR" sz="1050" dirty="0" smtClean="0"/>
                <a:t>NPS</a:t>
              </a:r>
              <a:r>
                <a:rPr lang="ko-KR" altLang="en-US" sz="1050" dirty="0" smtClean="0"/>
                <a:t>선택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매우만족</a:t>
              </a:r>
              <a:r>
                <a:rPr lang="en-US" altLang="ko-KR" sz="1050" dirty="0" smtClean="0"/>
                <a:t>/</a:t>
              </a:r>
              <a:r>
                <a:rPr lang="ko-KR" altLang="en-US" sz="1050" dirty="0" smtClean="0"/>
                <a:t>만족</a:t>
              </a:r>
              <a:r>
                <a:rPr lang="en-US" altLang="ko-KR" sz="1050" dirty="0" smtClean="0"/>
                <a:t>/</a:t>
              </a:r>
              <a:r>
                <a:rPr lang="ko-KR" altLang="en-US" sz="1050" dirty="0" err="1" smtClean="0"/>
                <a:t>보통이하</a:t>
              </a:r>
              <a:r>
                <a:rPr lang="en-US" altLang="ko-KR" sz="1050" dirty="0" smtClean="0"/>
                <a:t>(</a:t>
              </a:r>
              <a:r>
                <a:rPr lang="ko-KR" altLang="en-US" sz="1050" dirty="0" smtClean="0"/>
                <a:t>선택</a:t>
              </a:r>
              <a:r>
                <a:rPr lang="en-US" altLang="ko-KR" sz="1050" dirty="0" smtClean="0"/>
                <a:t>)</a:t>
              </a:r>
            </a:p>
            <a:p>
              <a:pPr algn="ctr"/>
              <a:r>
                <a:rPr lang="ko-KR" altLang="en-US" sz="1050" dirty="0" err="1" smtClean="0"/>
                <a:t>전체선택</a:t>
              </a:r>
              <a:r>
                <a:rPr lang="ko-KR" altLang="en-US" sz="1050" dirty="0" smtClean="0"/>
                <a:t> 옵션</a:t>
              </a:r>
              <a:endParaRPr lang="ko-KR" altLang="en-US" sz="105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73671" y="795232"/>
              <a:ext cx="471593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</p:grpSp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2599943"/>
              </p:ext>
            </p:extLst>
          </p:nvPr>
        </p:nvGraphicFramePr>
        <p:xfrm>
          <a:off x="4270940" y="2966488"/>
          <a:ext cx="7680056" cy="1935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4" name="그룹 33"/>
          <p:cNvGrpSpPr/>
          <p:nvPr/>
        </p:nvGrpSpPr>
        <p:grpSpPr>
          <a:xfrm>
            <a:off x="2165697" y="683688"/>
            <a:ext cx="6622550" cy="682694"/>
            <a:chOff x="2165697" y="795232"/>
            <a:chExt cx="6622550" cy="682694"/>
          </a:xfrm>
        </p:grpSpPr>
        <p:grpSp>
          <p:nvGrpSpPr>
            <p:cNvPr id="38" name="그룹 37"/>
            <p:cNvGrpSpPr/>
            <p:nvPr/>
          </p:nvGrpSpPr>
          <p:grpSpPr>
            <a:xfrm>
              <a:off x="2165697" y="795233"/>
              <a:ext cx="5208747" cy="682692"/>
              <a:chOff x="2165697" y="4346508"/>
              <a:chExt cx="6415655" cy="682692"/>
            </a:xfrm>
          </p:grpSpPr>
          <p:sp>
            <p:nvSpPr>
              <p:cNvPr id="41" name="직사각형 40"/>
              <p:cNvSpPr/>
              <p:nvPr/>
            </p:nvSpPr>
            <p:spPr>
              <a:xfrm>
                <a:off x="2371060" y="4412006"/>
                <a:ext cx="2483028" cy="6171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/>
                  <a:t>▼</a:t>
                </a:r>
                <a:r>
                  <a:rPr lang="ko-KR" altLang="en-US" sz="1200" dirty="0" err="1" smtClean="0"/>
                  <a:t>기간선택</a:t>
                </a:r>
                <a:r>
                  <a:rPr lang="en-US" altLang="ko-KR" sz="1200" dirty="0" smtClean="0"/>
                  <a:t>(</a:t>
                </a:r>
                <a:r>
                  <a:rPr lang="ko-KR" altLang="en-US" sz="1200" dirty="0" smtClean="0"/>
                  <a:t>연도</a:t>
                </a:r>
                <a:r>
                  <a:rPr lang="en-US" altLang="ko-KR" sz="1200" dirty="0" smtClean="0"/>
                  <a:t>, </a:t>
                </a:r>
                <a:r>
                  <a:rPr lang="ko-KR" altLang="en-US" sz="1200" dirty="0" smtClean="0"/>
                  <a:t>월</a:t>
                </a:r>
                <a:r>
                  <a:rPr lang="en-US" altLang="ko-KR" sz="1200" dirty="0" smtClean="0"/>
                  <a:t>)</a:t>
                </a:r>
              </a:p>
              <a:p>
                <a:pPr algn="ctr"/>
                <a:r>
                  <a:rPr lang="ko-KR" altLang="en-US" sz="900" dirty="0" smtClean="0"/>
                  <a:t>월의 기준 </a:t>
                </a:r>
                <a:r>
                  <a:rPr lang="en-US" altLang="ko-KR" sz="900" dirty="0" smtClean="0"/>
                  <a:t>: </a:t>
                </a:r>
              </a:p>
              <a:p>
                <a:pPr algn="ctr"/>
                <a:r>
                  <a:rPr lang="ko-KR" altLang="en-US" sz="900" dirty="0" smtClean="0"/>
                  <a:t>전월 </a:t>
                </a:r>
                <a:r>
                  <a:rPr lang="en-US" altLang="ko-KR" sz="900" dirty="0" smtClean="0"/>
                  <a:t>26</a:t>
                </a:r>
                <a:r>
                  <a:rPr lang="ko-KR" altLang="en-US" sz="900" dirty="0" smtClean="0"/>
                  <a:t>일</a:t>
                </a:r>
                <a:r>
                  <a:rPr lang="en-US" altLang="ko-KR" sz="900" dirty="0" smtClean="0"/>
                  <a:t>~</a:t>
                </a:r>
                <a:r>
                  <a:rPr lang="ko-KR" altLang="en-US" sz="900" dirty="0" smtClean="0"/>
                  <a:t>당월</a:t>
                </a:r>
                <a:r>
                  <a:rPr lang="en-US" altLang="ko-KR" sz="900" dirty="0" smtClean="0"/>
                  <a:t>25</a:t>
                </a:r>
                <a:r>
                  <a:rPr lang="ko-KR" altLang="en-US" sz="900" dirty="0" smtClean="0"/>
                  <a:t>일까지</a:t>
                </a:r>
                <a:endParaRPr lang="ko-KR" altLang="en-US" sz="900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4965405" y="4412007"/>
                <a:ext cx="1754372" cy="6171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▼ </a:t>
                </a:r>
                <a:r>
                  <a:rPr lang="ko-KR" altLang="en-US" sz="1000" dirty="0" err="1" smtClean="0"/>
                  <a:t>대분류</a:t>
                </a:r>
                <a:endParaRPr lang="en-US" altLang="ko-KR" sz="1000" dirty="0" smtClean="0"/>
              </a:p>
              <a:p>
                <a:pPr algn="ctr"/>
                <a:r>
                  <a:rPr lang="ko-KR" altLang="en-US" sz="1000" dirty="0" err="1" smtClean="0"/>
                  <a:t>전체선택</a:t>
                </a:r>
                <a:endParaRPr lang="ko-KR" altLang="en-US" sz="1000" dirty="0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6826980" y="4412007"/>
                <a:ext cx="1754372" cy="6171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dirty="0" smtClean="0"/>
                  <a:t>▼ 중분류 </a:t>
                </a:r>
                <a:endParaRPr lang="en-US" altLang="ko-KR" sz="1050" dirty="0" smtClean="0"/>
              </a:p>
              <a:p>
                <a:pPr algn="ctr"/>
                <a:r>
                  <a:rPr lang="ko-KR" altLang="en-US" sz="1050" dirty="0" err="1" smtClean="0"/>
                  <a:t>전체선택</a:t>
                </a:r>
                <a:endParaRPr lang="ko-KR" altLang="en-US" sz="1050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165697" y="4346508"/>
                <a:ext cx="748705" cy="261610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err="1" smtClean="0"/>
                  <a:t>기준값</a:t>
                </a:r>
                <a:endParaRPr lang="ko-KR" altLang="en-US" sz="1100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4719183" y="4346508"/>
                <a:ext cx="748705" cy="261610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err="1" smtClean="0"/>
                  <a:t>기준값</a:t>
                </a:r>
                <a:endParaRPr lang="ko-KR" altLang="en-US" sz="1100" dirty="0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676450" y="4346508"/>
                <a:ext cx="748705" cy="261610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err="1" smtClean="0"/>
                  <a:t>기준값</a:t>
                </a:r>
                <a:endParaRPr lang="ko-KR" altLang="en-US" sz="1100" dirty="0"/>
              </a:p>
            </p:txBody>
          </p:sp>
        </p:grpSp>
        <p:sp>
          <p:nvSpPr>
            <p:cNvPr id="39" name="직사각형 38"/>
            <p:cNvSpPr/>
            <p:nvPr/>
          </p:nvSpPr>
          <p:spPr>
            <a:xfrm>
              <a:off x="7461480" y="860732"/>
              <a:ext cx="1326767" cy="6171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/>
                <a:t>▼ </a:t>
              </a:r>
              <a:r>
                <a:rPr lang="en-US" altLang="ko-KR" sz="1050" dirty="0" smtClean="0"/>
                <a:t>NPS</a:t>
              </a:r>
              <a:r>
                <a:rPr lang="ko-KR" altLang="en-US" sz="1050" dirty="0" smtClean="0"/>
                <a:t>선택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매우만족</a:t>
              </a:r>
              <a:r>
                <a:rPr lang="en-US" altLang="ko-KR" sz="1050" dirty="0" smtClean="0"/>
                <a:t>/</a:t>
              </a:r>
              <a:r>
                <a:rPr lang="ko-KR" altLang="en-US" sz="1050" dirty="0" smtClean="0"/>
                <a:t>만족</a:t>
              </a:r>
              <a:r>
                <a:rPr lang="en-US" altLang="ko-KR" sz="1050" dirty="0" smtClean="0"/>
                <a:t>/</a:t>
              </a:r>
              <a:r>
                <a:rPr lang="ko-KR" altLang="en-US" sz="1050" dirty="0" err="1" smtClean="0"/>
                <a:t>보통이하</a:t>
              </a:r>
              <a:r>
                <a:rPr lang="en-US" altLang="ko-KR" sz="1050" dirty="0" smtClean="0"/>
                <a:t>(</a:t>
              </a:r>
              <a:r>
                <a:rPr lang="ko-KR" altLang="en-US" sz="1050" dirty="0" smtClean="0"/>
                <a:t>선택</a:t>
              </a:r>
              <a:r>
                <a:rPr lang="en-US" altLang="ko-KR" sz="1050" dirty="0" smtClean="0"/>
                <a:t>)</a:t>
              </a:r>
            </a:p>
            <a:p>
              <a:pPr algn="ctr"/>
              <a:r>
                <a:rPr lang="ko-KR" altLang="en-US" sz="1050" dirty="0" err="1" smtClean="0"/>
                <a:t>전체선택</a:t>
              </a:r>
              <a:r>
                <a:rPr lang="ko-KR" altLang="en-US" sz="1050" dirty="0" smtClean="0"/>
                <a:t> 옵션</a:t>
              </a:r>
              <a:endParaRPr lang="ko-KR" altLang="en-US" sz="105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273671" y="795232"/>
              <a:ext cx="471593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</p:grpSp>
      <p:sp>
        <p:nvSpPr>
          <p:cNvPr id="6" name="직사각형 5"/>
          <p:cNvSpPr/>
          <p:nvPr/>
        </p:nvSpPr>
        <p:spPr>
          <a:xfrm>
            <a:off x="2165697" y="595417"/>
            <a:ext cx="6659326" cy="8399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88569" y="382762"/>
            <a:ext cx="2054738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▼ </a:t>
            </a:r>
            <a:r>
              <a:rPr lang="ko-KR" altLang="en-US" sz="1100" dirty="0" err="1" smtClean="0"/>
              <a:t>기준값</a:t>
            </a:r>
            <a:r>
              <a:rPr lang="ko-KR" altLang="en-US" sz="1100" dirty="0" smtClean="0"/>
              <a:t> 숨기기 버튼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0660913" y="2474040"/>
            <a:ext cx="1339702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smtClean="0"/>
              <a:t>그래프 </a:t>
            </a:r>
            <a:r>
              <a:rPr lang="ko-KR" altLang="en-US" sz="1050" dirty="0" err="1" smtClean="0"/>
              <a:t>변경버튼</a:t>
            </a:r>
            <a:endParaRPr lang="ko-KR" altLang="en-US" sz="105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56972"/>
              </p:ext>
            </p:extLst>
          </p:nvPr>
        </p:nvGraphicFramePr>
        <p:xfrm>
          <a:off x="2165697" y="5375731"/>
          <a:ext cx="9891621" cy="13685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374">
                  <a:extLst>
                    <a:ext uri="{9D8B030D-6E8A-4147-A177-3AD203B41FA5}">
                      <a16:colId xmlns:a16="http://schemas.microsoft.com/office/drawing/2014/main" val="4242566104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194750075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672756787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025410471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4205091154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836933142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145071126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755166403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838941363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208429716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497199971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161339769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488486458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604586985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972338598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370794069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293443267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864835524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7853172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2816571727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112656183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956516155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4042546753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497862350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4180319316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68230687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1701614947"/>
                    </a:ext>
                  </a:extLst>
                </a:gridCol>
                <a:gridCol w="345861">
                  <a:extLst>
                    <a:ext uri="{9D8B030D-6E8A-4147-A177-3AD203B41FA5}">
                      <a16:colId xmlns:a16="http://schemas.microsoft.com/office/drawing/2014/main" val="3131498895"/>
                    </a:ext>
                  </a:extLst>
                </a:gridCol>
              </a:tblGrid>
              <a:tr h="157500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2024</a:t>
                      </a:r>
                      <a:r>
                        <a:rPr lang="ko-KR" altLang="en-US" sz="700" u="none" strike="noStrike" dirty="0">
                          <a:effectLst/>
                        </a:rPr>
                        <a:t>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2025</a:t>
                      </a:r>
                      <a:r>
                        <a:rPr lang="ko-KR" altLang="en-US" sz="700" u="none" strike="noStrike" dirty="0">
                          <a:effectLst/>
                        </a:rPr>
                        <a:t>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979389"/>
                  </a:ext>
                </a:extLst>
              </a:tr>
              <a:tr h="1575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6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7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8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9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10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11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12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6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7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8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9</a:t>
                      </a:r>
                      <a:r>
                        <a:rPr lang="ko-KR" altLang="en-US" sz="700" u="none" strike="noStrike" dirty="0">
                          <a:effectLst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242219"/>
                  </a:ext>
                </a:extLst>
              </a:tr>
              <a:tr h="2633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매우만족</a:t>
                      </a:r>
                      <a:r>
                        <a:rPr lang="en-US" altLang="ko-KR" sz="700" u="none" strike="noStrike" dirty="0">
                          <a:effectLst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81.9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81.8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83.0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83.2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83.3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81.6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81.6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82.1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83.2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82.5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81.8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81.5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35116391"/>
                  </a:ext>
                </a:extLst>
              </a:tr>
              <a:tr h="2633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만족</a:t>
                      </a:r>
                      <a:r>
                        <a:rPr lang="en-US" altLang="ko-KR" sz="700" u="none" strike="noStrike" dirty="0">
                          <a:effectLst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15.1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15.0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13.8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13.5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13.3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13.9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13.5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14.3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13.7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13.9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4344"/>
                  </a:ext>
                </a:extLst>
              </a:tr>
              <a:tr h="2633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 err="1">
                          <a:effectLst/>
                        </a:rPr>
                        <a:t>보통이하</a:t>
                      </a:r>
                      <a:r>
                        <a:rPr lang="en-US" altLang="ko-KR" sz="700" u="none" strike="noStrike" dirty="0">
                          <a:effectLst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2.8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3.7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59725"/>
                  </a:ext>
                </a:extLst>
              </a:tr>
              <a:tr h="2633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만족도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참여율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60.3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58.1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58.6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58.0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57.8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59.5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57.7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58.7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57.8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57.8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57.9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59.1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58.9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56.5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57.8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55.4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53.0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52.0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52.6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49.1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51.9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51.7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38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66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371061" y="2499006"/>
            <a:ext cx="9686260" cy="2753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err="1" smtClean="0"/>
              <a:t>칭찬현황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그래프 표시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전지점</a:t>
            </a:r>
            <a:r>
              <a:rPr lang="ko-KR" altLang="en-US" sz="1200" dirty="0" smtClean="0"/>
              <a:t> 혹은 </a:t>
            </a:r>
            <a:r>
              <a:rPr lang="ko-KR" altLang="en-US" sz="1200" dirty="0" err="1" smtClean="0"/>
              <a:t>지점군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VS </a:t>
            </a:r>
            <a:r>
              <a:rPr lang="ko-KR" altLang="en-US" sz="1200" dirty="0" smtClean="0"/>
              <a:t>지점별 비교 그래프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350874" y="3371556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칭찬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불만 현황</a:t>
            </a:r>
            <a:endParaRPr lang="ko-KR" altLang="en-US" sz="1400" dirty="0"/>
          </a:p>
        </p:txBody>
      </p:sp>
      <p:sp>
        <p:nvSpPr>
          <p:cNvPr id="16" name="직사각형 15"/>
          <p:cNvSpPr/>
          <p:nvPr/>
        </p:nvSpPr>
        <p:spPr>
          <a:xfrm>
            <a:off x="637953" y="3987210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칭찬현황</a:t>
            </a:r>
            <a:endParaRPr lang="ko-KR" altLang="en-US" sz="14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435935" y="3935081"/>
            <a:ext cx="0" cy="105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46567" y="49760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46567" y="4327451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371059" y="82402"/>
            <a:ext cx="9686262" cy="402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칭찬현황</a:t>
            </a:r>
            <a:endParaRPr lang="ko-KR" altLang="en-US" sz="1400" dirty="0"/>
          </a:p>
        </p:txBody>
      </p:sp>
      <p:sp>
        <p:nvSpPr>
          <p:cNvPr id="24" name="직사각형 23"/>
          <p:cNvSpPr/>
          <p:nvPr/>
        </p:nvSpPr>
        <p:spPr>
          <a:xfrm>
            <a:off x="8272130" y="934008"/>
            <a:ext cx="3785191" cy="1432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스코어카드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1) </a:t>
            </a:r>
            <a:r>
              <a:rPr lang="ko-KR" altLang="en-US" sz="1400" dirty="0" err="1" smtClean="0"/>
              <a:t>기준값의</a:t>
            </a:r>
            <a:r>
              <a:rPr lang="ko-KR" altLang="en-US" sz="1400" dirty="0" smtClean="0"/>
              <a:t> 칭찬 총계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2) </a:t>
            </a:r>
            <a:r>
              <a:rPr lang="ko-KR" altLang="en-US" sz="1400" dirty="0" err="1" smtClean="0"/>
              <a:t>필터값의</a:t>
            </a:r>
            <a:r>
              <a:rPr lang="ko-KR" altLang="en-US" sz="1400" dirty="0" smtClean="0"/>
              <a:t> 칭찬 총계</a:t>
            </a:r>
            <a:endParaRPr lang="ko-KR" altLang="en-US" sz="14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34272"/>
              </p:ext>
            </p:extLst>
          </p:nvPr>
        </p:nvGraphicFramePr>
        <p:xfrm>
          <a:off x="2275367" y="5406307"/>
          <a:ext cx="9817569" cy="1315031"/>
        </p:xfrm>
        <a:graphic>
          <a:graphicData uri="http://schemas.openxmlformats.org/drawingml/2006/table">
            <a:tbl>
              <a:tblPr/>
              <a:tblGrid>
                <a:gridCol w="366748">
                  <a:extLst>
                    <a:ext uri="{9D8B030D-6E8A-4147-A177-3AD203B41FA5}">
                      <a16:colId xmlns:a16="http://schemas.microsoft.com/office/drawing/2014/main" val="2638766030"/>
                    </a:ext>
                  </a:extLst>
                </a:gridCol>
                <a:gridCol w="402372">
                  <a:extLst>
                    <a:ext uri="{9D8B030D-6E8A-4147-A177-3AD203B41FA5}">
                      <a16:colId xmlns:a16="http://schemas.microsoft.com/office/drawing/2014/main" val="1560180340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647967382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31027159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6516323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234191528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265228157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39701088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2635968972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89599038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80626456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860685445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45380740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149977814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59107179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958537268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528450898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50154197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71879508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78703796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572279275"/>
                    </a:ext>
                  </a:extLst>
                </a:gridCol>
                <a:gridCol w="505030">
                  <a:extLst>
                    <a:ext uri="{9D8B030D-6E8A-4147-A177-3AD203B41FA5}">
                      <a16:colId xmlns:a16="http://schemas.microsoft.com/office/drawing/2014/main" val="878045140"/>
                    </a:ext>
                  </a:extLst>
                </a:gridCol>
                <a:gridCol w="426870">
                  <a:extLst>
                    <a:ext uri="{9D8B030D-6E8A-4147-A177-3AD203B41FA5}">
                      <a16:colId xmlns:a16="http://schemas.microsoft.com/office/drawing/2014/main" val="1430401013"/>
                    </a:ext>
                  </a:extLst>
                </a:gridCol>
                <a:gridCol w="601226">
                  <a:extLst>
                    <a:ext uri="{9D8B030D-6E8A-4147-A177-3AD203B41FA5}">
                      <a16:colId xmlns:a16="http://schemas.microsoft.com/office/drawing/2014/main" val="1712525615"/>
                    </a:ext>
                  </a:extLst>
                </a:gridCol>
                <a:gridCol w="432883">
                  <a:extLst>
                    <a:ext uri="{9D8B030D-6E8A-4147-A177-3AD203B41FA5}">
                      <a16:colId xmlns:a16="http://schemas.microsoft.com/office/drawing/2014/main" val="3554243109"/>
                    </a:ext>
                  </a:extLst>
                </a:gridCol>
              </a:tblGrid>
              <a:tr h="31005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dirty="0" smtClean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연도</a:t>
                      </a:r>
                      <a:endParaRPr lang="ko-KR" altLang="en-US" sz="8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dirty="0" smtClean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월</a:t>
                      </a:r>
                      <a:endParaRPr lang="ko-KR" altLang="en-US" sz="8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서울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대전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부산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인천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대구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 smtClean="0"/>
                        <a:t>강남본점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노원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분당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성신여대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수원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신촌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영등포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일산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천호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부천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 smtClean="0"/>
                        <a:t>안양평촌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천안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청주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해운대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dirty="0">
                          <a:effectLst/>
                          <a:latin typeface="Arial" panose="020B0604020202020204" pitchFamily="34" charset="0"/>
                        </a:rPr>
                        <a:t>수술</a:t>
                      </a:r>
                      <a:r>
                        <a:rPr lang="en-US" altLang="ko-KR" sz="800" b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800" b="0" dirty="0">
                          <a:effectLst/>
                          <a:latin typeface="Arial" panose="020B0604020202020204" pitchFamily="34" charset="0"/>
                        </a:rPr>
                        <a:t>칭찬</a:t>
                      </a:r>
                      <a:r>
                        <a:rPr lang="en-US" altLang="ko-KR" sz="800" b="0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람스</a:t>
                      </a:r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칭찬</a:t>
                      </a:r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람스</a:t>
                      </a:r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시술</a:t>
                      </a:r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칭찬</a:t>
                      </a:r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dirty="0" err="1">
                          <a:effectLst/>
                        </a:rPr>
                        <a:t>총칭찬</a:t>
                      </a:r>
                      <a:r>
                        <a:rPr lang="ko-KR" altLang="en-US" sz="800" dirty="0">
                          <a:effectLst/>
                        </a:rPr>
                        <a:t> 합계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567315"/>
                  </a:ext>
                </a:extLst>
              </a:tr>
              <a:tr h="141432"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2026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년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800" b="0" dirty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51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32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26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218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144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403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136598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71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215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428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92732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8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146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413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32073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92172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805272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834827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394636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2245804" y="563525"/>
            <a:ext cx="2247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PPT 9</a:t>
            </a:r>
            <a:r>
              <a:rPr lang="ko-KR" altLang="en-US" sz="1100" dirty="0" smtClean="0"/>
              <a:t>번 페이지 데이터에서 계산</a:t>
            </a:r>
            <a:endParaRPr lang="ko-KR" altLang="en-US" sz="1100" dirty="0"/>
          </a:p>
        </p:txBody>
      </p:sp>
      <p:grpSp>
        <p:nvGrpSpPr>
          <p:cNvPr id="39" name="그룹 38"/>
          <p:cNvGrpSpPr/>
          <p:nvPr/>
        </p:nvGrpSpPr>
        <p:grpSpPr>
          <a:xfrm>
            <a:off x="2165697" y="1683758"/>
            <a:ext cx="5889962" cy="682692"/>
            <a:chOff x="2165697" y="4346508"/>
            <a:chExt cx="6415655" cy="682692"/>
          </a:xfrm>
        </p:grpSpPr>
        <p:sp>
          <p:nvSpPr>
            <p:cNvPr id="42" name="직사각형 41"/>
            <p:cNvSpPr/>
            <p:nvPr/>
          </p:nvSpPr>
          <p:spPr>
            <a:xfrm>
              <a:off x="2371060" y="4412006"/>
              <a:ext cx="2483028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▼</a:t>
              </a:r>
              <a:r>
                <a:rPr lang="ko-KR" altLang="en-US" sz="1200" dirty="0" err="1" smtClean="0"/>
                <a:t>기간선택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연도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월</a:t>
              </a:r>
              <a:r>
                <a:rPr lang="en-US" altLang="ko-KR" sz="1200" dirty="0" smtClean="0"/>
                <a:t>)</a:t>
              </a:r>
            </a:p>
            <a:p>
              <a:pPr algn="ctr"/>
              <a:r>
                <a:rPr lang="ko-KR" altLang="en-US" sz="900" dirty="0" smtClean="0"/>
                <a:t>월의 기준 </a:t>
              </a:r>
              <a:r>
                <a:rPr lang="en-US" altLang="ko-KR" sz="900" dirty="0" smtClean="0"/>
                <a:t>: </a:t>
              </a:r>
            </a:p>
            <a:p>
              <a:pPr algn="ctr"/>
              <a:r>
                <a:rPr lang="ko-KR" altLang="en-US" sz="900" dirty="0" smtClean="0"/>
                <a:t>전월 </a:t>
              </a:r>
              <a:r>
                <a:rPr lang="en-US" altLang="ko-KR" sz="900" dirty="0" smtClean="0"/>
                <a:t>26</a:t>
              </a:r>
              <a:r>
                <a:rPr lang="ko-KR" altLang="en-US" sz="900" dirty="0" smtClean="0"/>
                <a:t>일</a:t>
              </a:r>
              <a:r>
                <a:rPr lang="en-US" altLang="ko-KR" sz="900" dirty="0" smtClean="0"/>
                <a:t>~</a:t>
              </a:r>
              <a:r>
                <a:rPr lang="ko-KR" altLang="en-US" sz="900" dirty="0" smtClean="0"/>
                <a:t>당월</a:t>
              </a:r>
              <a:r>
                <a:rPr lang="en-US" altLang="ko-KR" sz="900" dirty="0" smtClean="0"/>
                <a:t>25</a:t>
              </a:r>
              <a:r>
                <a:rPr lang="ko-KR" altLang="en-US" sz="900" dirty="0" smtClean="0"/>
                <a:t>일까지</a:t>
              </a:r>
              <a:endParaRPr lang="ko-KR" altLang="en-US" sz="900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965405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▼ </a:t>
              </a:r>
              <a:r>
                <a:rPr lang="ko-KR" altLang="en-US" sz="1000" dirty="0" err="1" smtClean="0"/>
                <a:t>대분류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err="1" smtClean="0"/>
                <a:t>지점군</a:t>
              </a:r>
              <a:r>
                <a:rPr lang="ko-KR" altLang="en-US" sz="1000" dirty="0" smtClean="0"/>
                <a:t> 선택</a:t>
              </a:r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필수</a:t>
              </a:r>
              <a:r>
                <a:rPr lang="en-US" altLang="ko-KR" sz="1000" dirty="0" smtClean="0"/>
                <a:t>)</a:t>
              </a:r>
            </a:p>
            <a:p>
              <a:pPr algn="ctr"/>
              <a:r>
                <a:rPr lang="ko-KR" altLang="en-US" sz="1000" dirty="0" err="1" smtClean="0"/>
                <a:t>전체선택</a:t>
              </a:r>
              <a:r>
                <a:rPr lang="ko-KR" altLang="en-US" sz="1000" dirty="0" smtClean="0"/>
                <a:t> 옵션</a:t>
              </a:r>
              <a:endParaRPr lang="ko-KR" altLang="en-US" sz="1000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826980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/>
                <a:t>▼ 중분류 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지점선택</a:t>
              </a:r>
              <a:r>
                <a:rPr lang="en-US" altLang="ko-KR" sz="1050" dirty="0" smtClean="0"/>
                <a:t>(</a:t>
              </a:r>
              <a:r>
                <a:rPr lang="ko-KR" altLang="en-US" sz="1050" dirty="0" smtClean="0"/>
                <a:t>선택</a:t>
              </a:r>
              <a:r>
                <a:rPr lang="en-US" altLang="ko-KR" sz="1050" dirty="0" smtClean="0"/>
                <a:t>)</a:t>
              </a:r>
              <a:endParaRPr lang="ko-KR" altLang="en-US" sz="105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65697" y="4346508"/>
              <a:ext cx="574954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19183" y="4346508"/>
              <a:ext cx="574954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676450" y="4346508"/>
              <a:ext cx="574954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2165697" y="868510"/>
            <a:ext cx="5889962" cy="682692"/>
            <a:chOff x="2165697" y="4346508"/>
            <a:chExt cx="6415655" cy="682692"/>
          </a:xfrm>
        </p:grpSpPr>
        <p:sp>
          <p:nvSpPr>
            <p:cNvPr id="52" name="직사각형 51"/>
            <p:cNvSpPr/>
            <p:nvPr/>
          </p:nvSpPr>
          <p:spPr>
            <a:xfrm>
              <a:off x="2371060" y="4412006"/>
              <a:ext cx="2483028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▼</a:t>
              </a:r>
              <a:r>
                <a:rPr lang="ko-KR" altLang="en-US" sz="1200" dirty="0" err="1" smtClean="0"/>
                <a:t>기간선택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연도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월</a:t>
              </a:r>
              <a:r>
                <a:rPr lang="en-US" altLang="ko-KR" sz="1200" dirty="0" smtClean="0"/>
                <a:t>)</a:t>
              </a:r>
            </a:p>
            <a:p>
              <a:pPr algn="ctr"/>
              <a:r>
                <a:rPr lang="ko-KR" altLang="en-US" sz="900" dirty="0" smtClean="0"/>
                <a:t>월의 기준 </a:t>
              </a:r>
              <a:r>
                <a:rPr lang="en-US" altLang="ko-KR" sz="900" dirty="0" smtClean="0"/>
                <a:t>: </a:t>
              </a:r>
            </a:p>
            <a:p>
              <a:pPr algn="ctr"/>
              <a:r>
                <a:rPr lang="ko-KR" altLang="en-US" sz="900" dirty="0" smtClean="0"/>
                <a:t>전월 </a:t>
              </a:r>
              <a:r>
                <a:rPr lang="en-US" altLang="ko-KR" sz="900" dirty="0" smtClean="0"/>
                <a:t>26</a:t>
              </a:r>
              <a:r>
                <a:rPr lang="ko-KR" altLang="en-US" sz="900" dirty="0" smtClean="0"/>
                <a:t>일</a:t>
              </a:r>
              <a:r>
                <a:rPr lang="en-US" altLang="ko-KR" sz="900" dirty="0" smtClean="0"/>
                <a:t>~</a:t>
              </a:r>
              <a:r>
                <a:rPr lang="ko-KR" altLang="en-US" sz="900" dirty="0" smtClean="0"/>
                <a:t>당월</a:t>
              </a:r>
              <a:r>
                <a:rPr lang="en-US" altLang="ko-KR" sz="900" dirty="0" smtClean="0"/>
                <a:t>25</a:t>
              </a:r>
              <a:r>
                <a:rPr lang="ko-KR" altLang="en-US" sz="900" dirty="0" smtClean="0"/>
                <a:t>일까지</a:t>
              </a:r>
              <a:endParaRPr lang="ko-KR" altLang="en-US" sz="9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965405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▼ </a:t>
              </a:r>
              <a:r>
                <a:rPr lang="ko-KR" altLang="en-US" sz="1000" dirty="0" err="1" smtClean="0"/>
                <a:t>대분류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err="1" smtClean="0"/>
                <a:t>전체선택</a:t>
              </a:r>
              <a:endParaRPr lang="ko-KR" altLang="en-US" sz="1000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826980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/>
                <a:t>▼ 중분류 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전체선택</a:t>
              </a:r>
              <a:endParaRPr lang="ko-KR" altLang="en-US" sz="105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65697" y="4346508"/>
              <a:ext cx="748705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 smtClean="0"/>
                <a:t>기준값</a:t>
              </a:r>
              <a:endParaRPr lang="ko-KR" altLang="en-US" sz="11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19183" y="4346508"/>
              <a:ext cx="748705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 smtClean="0"/>
                <a:t>기준값</a:t>
              </a:r>
              <a:endParaRPr lang="ko-KR" altLang="en-US" sz="11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676450" y="4346508"/>
              <a:ext cx="748705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 smtClean="0"/>
                <a:t>기준값</a:t>
              </a:r>
              <a:endParaRPr lang="ko-KR" altLang="en-US" sz="1100" dirty="0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10002583" y="609698"/>
            <a:ext cx="2054738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▼ </a:t>
            </a:r>
            <a:r>
              <a:rPr lang="ko-KR" altLang="en-US" sz="1100" dirty="0" err="1" smtClean="0"/>
              <a:t>기준값</a:t>
            </a:r>
            <a:r>
              <a:rPr lang="ko-KR" altLang="en-US" sz="1100" dirty="0" smtClean="0"/>
              <a:t> 숨기기 버튼</a:t>
            </a:r>
            <a:endParaRPr lang="ko-KR" altLang="en-US" sz="1100" dirty="0"/>
          </a:p>
        </p:txBody>
      </p:sp>
      <p:graphicFrame>
        <p:nvGraphicFramePr>
          <p:cNvPr id="59" name="차트 58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6522738"/>
              </p:ext>
            </p:extLst>
          </p:nvPr>
        </p:nvGraphicFramePr>
        <p:xfrm>
          <a:off x="3242930" y="2838933"/>
          <a:ext cx="8612373" cy="205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6022896" y="4907801"/>
            <a:ext cx="3052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가로축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필터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기간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선택 </a:t>
            </a:r>
            <a:r>
              <a:rPr lang="ko-KR" altLang="en-US" sz="1200" dirty="0" err="1" smtClean="0"/>
              <a:t>대분류와</a:t>
            </a:r>
            <a:r>
              <a:rPr lang="ko-KR" altLang="en-US" sz="1200" dirty="0" smtClean="0"/>
              <a:t> 중분류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2371060" y="330352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세로축 </a:t>
            </a:r>
            <a:r>
              <a:rPr lang="en-US" altLang="ko-KR" sz="1200" dirty="0" smtClean="0"/>
              <a:t>: </a:t>
            </a:r>
          </a:p>
          <a:p>
            <a:r>
              <a:rPr lang="ko-KR" altLang="en-US" sz="1200" dirty="0" err="1" smtClean="0"/>
              <a:t>칭찬개수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56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371061" y="2499006"/>
            <a:ext cx="9686260" cy="2753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err="1" smtClean="0"/>
              <a:t>불만현황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그래프 표시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전지점</a:t>
            </a:r>
            <a:r>
              <a:rPr lang="ko-KR" altLang="en-US" sz="1200" dirty="0" smtClean="0"/>
              <a:t> 혹은 </a:t>
            </a:r>
            <a:r>
              <a:rPr lang="ko-KR" altLang="en-US" sz="1200" dirty="0" err="1" smtClean="0"/>
              <a:t>지점군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VS </a:t>
            </a:r>
            <a:r>
              <a:rPr lang="ko-KR" altLang="en-US" sz="1200" dirty="0" smtClean="0"/>
              <a:t>지점별 비교 그래프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350874" y="3371556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칭찬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불만 현황</a:t>
            </a:r>
            <a:endParaRPr lang="ko-KR" altLang="en-US" sz="14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435935" y="3935081"/>
            <a:ext cx="0" cy="105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46567" y="49760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46567" y="4327451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371059" y="82402"/>
            <a:ext cx="9686262" cy="389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불만현황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탭 </a:t>
            </a:r>
            <a:r>
              <a:rPr lang="en-US" altLang="ko-KR" sz="1400" dirty="0" smtClean="0"/>
              <a:t>1)</a:t>
            </a:r>
            <a:endParaRPr lang="ko-KR" altLang="en-US" sz="1400" dirty="0"/>
          </a:p>
        </p:txBody>
      </p:sp>
      <p:sp>
        <p:nvSpPr>
          <p:cNvPr id="24" name="직사각형 23"/>
          <p:cNvSpPr/>
          <p:nvPr/>
        </p:nvSpPr>
        <p:spPr>
          <a:xfrm>
            <a:off x="8154080" y="934008"/>
            <a:ext cx="3903242" cy="1432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스코어카드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1) </a:t>
            </a:r>
            <a:r>
              <a:rPr lang="ko-KR" altLang="en-US" sz="1400" dirty="0" err="1" smtClean="0"/>
              <a:t>기준값의</a:t>
            </a:r>
            <a:r>
              <a:rPr lang="ko-KR" altLang="en-US" sz="1400" dirty="0" smtClean="0"/>
              <a:t> 불만 총계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2) </a:t>
            </a:r>
            <a:r>
              <a:rPr lang="ko-KR" altLang="en-US" sz="1400" dirty="0" err="1" smtClean="0"/>
              <a:t>필터값의</a:t>
            </a:r>
            <a:r>
              <a:rPr lang="ko-KR" altLang="en-US" sz="1400" dirty="0" smtClean="0"/>
              <a:t> 불만 총계</a:t>
            </a:r>
            <a:endParaRPr lang="ko-KR" altLang="en-US" sz="14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008695"/>
              </p:ext>
            </p:extLst>
          </p:nvPr>
        </p:nvGraphicFramePr>
        <p:xfrm>
          <a:off x="2275367" y="5406307"/>
          <a:ext cx="9817569" cy="1315031"/>
        </p:xfrm>
        <a:graphic>
          <a:graphicData uri="http://schemas.openxmlformats.org/drawingml/2006/table">
            <a:tbl>
              <a:tblPr/>
              <a:tblGrid>
                <a:gridCol w="366748">
                  <a:extLst>
                    <a:ext uri="{9D8B030D-6E8A-4147-A177-3AD203B41FA5}">
                      <a16:colId xmlns:a16="http://schemas.microsoft.com/office/drawing/2014/main" val="2638766030"/>
                    </a:ext>
                  </a:extLst>
                </a:gridCol>
                <a:gridCol w="402372">
                  <a:extLst>
                    <a:ext uri="{9D8B030D-6E8A-4147-A177-3AD203B41FA5}">
                      <a16:colId xmlns:a16="http://schemas.microsoft.com/office/drawing/2014/main" val="1560180340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647967382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31027159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6516323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234191528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265228157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39701088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2635968972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89599038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80626456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860685445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45380740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149977814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59107179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958537268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3528450898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50154197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718795081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1787037966"/>
                    </a:ext>
                  </a:extLst>
                </a:gridCol>
                <a:gridCol w="372760">
                  <a:extLst>
                    <a:ext uri="{9D8B030D-6E8A-4147-A177-3AD203B41FA5}">
                      <a16:colId xmlns:a16="http://schemas.microsoft.com/office/drawing/2014/main" val="572279275"/>
                    </a:ext>
                  </a:extLst>
                </a:gridCol>
                <a:gridCol w="505030">
                  <a:extLst>
                    <a:ext uri="{9D8B030D-6E8A-4147-A177-3AD203B41FA5}">
                      <a16:colId xmlns:a16="http://schemas.microsoft.com/office/drawing/2014/main" val="878045140"/>
                    </a:ext>
                  </a:extLst>
                </a:gridCol>
                <a:gridCol w="426870">
                  <a:extLst>
                    <a:ext uri="{9D8B030D-6E8A-4147-A177-3AD203B41FA5}">
                      <a16:colId xmlns:a16="http://schemas.microsoft.com/office/drawing/2014/main" val="1430401013"/>
                    </a:ext>
                  </a:extLst>
                </a:gridCol>
                <a:gridCol w="601226">
                  <a:extLst>
                    <a:ext uri="{9D8B030D-6E8A-4147-A177-3AD203B41FA5}">
                      <a16:colId xmlns:a16="http://schemas.microsoft.com/office/drawing/2014/main" val="1712525615"/>
                    </a:ext>
                  </a:extLst>
                </a:gridCol>
                <a:gridCol w="432883">
                  <a:extLst>
                    <a:ext uri="{9D8B030D-6E8A-4147-A177-3AD203B41FA5}">
                      <a16:colId xmlns:a16="http://schemas.microsoft.com/office/drawing/2014/main" val="3554243109"/>
                    </a:ext>
                  </a:extLst>
                </a:gridCol>
              </a:tblGrid>
              <a:tr h="31005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dirty="0" smtClean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연도</a:t>
                      </a:r>
                      <a:endParaRPr lang="ko-KR" altLang="en-US" sz="8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dirty="0" smtClean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월</a:t>
                      </a:r>
                      <a:endParaRPr lang="ko-KR" altLang="en-US" sz="8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서울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대전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부산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인천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대구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/>
                        <a:t>강남본점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노원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분당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성신여대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수원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신촌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영등포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일산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천호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부천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/>
                        <a:t>안양평촌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천안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청주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/>
                        <a:t>해운대</a:t>
                      </a:r>
                      <a:endParaRPr lang="ko-KR" altLang="en-US" sz="800" dirty="0"/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dirty="0">
                          <a:effectLst/>
                          <a:latin typeface="Arial" panose="020B0604020202020204" pitchFamily="34" charset="0"/>
                        </a:rPr>
                        <a:t>수술</a:t>
                      </a:r>
                      <a:r>
                        <a:rPr lang="en-US" altLang="ko-KR" sz="800" b="0" dirty="0" smtClean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800" b="0" dirty="0" smtClean="0">
                          <a:effectLst/>
                          <a:latin typeface="Arial" panose="020B0604020202020204" pitchFamily="34" charset="0"/>
                        </a:rPr>
                        <a:t>불만</a:t>
                      </a:r>
                      <a:r>
                        <a:rPr lang="en-US" altLang="ko-KR" sz="800" b="0" dirty="0" smtClean="0"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altLang="ko-KR" sz="8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dirty="0" err="1" smtClean="0">
                          <a:effectLst/>
                          <a:latin typeface="Arial" panose="020B0604020202020204" pitchFamily="34" charset="0"/>
                        </a:rPr>
                        <a:t>람스</a:t>
                      </a:r>
                      <a:endParaRPr lang="en-US" altLang="ko-KR" sz="800" b="0" dirty="0" smtClean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ctr"/>
                      <a:r>
                        <a:rPr lang="en-US" altLang="ko-KR" sz="800" b="0" dirty="0" smtClean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800" b="0" dirty="0" smtClean="0">
                          <a:effectLst/>
                          <a:latin typeface="Arial" panose="020B0604020202020204" pitchFamily="34" charset="0"/>
                        </a:rPr>
                        <a:t>불만</a:t>
                      </a:r>
                      <a:r>
                        <a:rPr lang="en-US" altLang="ko-KR" sz="800" b="0" dirty="0" smtClean="0"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altLang="ko-KR" sz="8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dirty="0" err="1">
                          <a:effectLst/>
                          <a:latin typeface="Arial" panose="020B0604020202020204" pitchFamily="34" charset="0"/>
                        </a:rPr>
                        <a:t>람스</a:t>
                      </a:r>
                      <a:r>
                        <a:rPr lang="en-US" altLang="ko-KR" sz="800" b="0" dirty="0"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lang="ko-KR" altLang="en-US" sz="800" b="0" dirty="0">
                          <a:effectLst/>
                          <a:latin typeface="Arial" panose="020B0604020202020204" pitchFamily="34" charset="0"/>
                        </a:rPr>
                        <a:t>시술</a:t>
                      </a:r>
                      <a:r>
                        <a:rPr lang="en-US" altLang="ko-KR" sz="800" b="0" dirty="0" smtClean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800" b="0" dirty="0" smtClean="0">
                          <a:effectLst/>
                          <a:latin typeface="Arial" panose="020B0604020202020204" pitchFamily="34" charset="0"/>
                        </a:rPr>
                        <a:t>불만</a:t>
                      </a:r>
                      <a:r>
                        <a:rPr lang="en-US" altLang="ko-KR" sz="800" b="0" dirty="0" smtClean="0"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altLang="ko-KR" sz="8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dirty="0" smtClean="0">
                          <a:effectLst/>
                        </a:rPr>
                        <a:t>총 칭찬 </a:t>
                      </a:r>
                      <a:r>
                        <a:rPr lang="ko-KR" altLang="en-US" sz="800" dirty="0">
                          <a:effectLst/>
                        </a:rPr>
                        <a:t>합계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567315"/>
                  </a:ext>
                </a:extLst>
              </a:tr>
              <a:tr h="141432"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2026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년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800" b="0" dirty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51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32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26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218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144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403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136598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71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215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428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92732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63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12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35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15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29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7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14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8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211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56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146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413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32073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92172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805272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834827"/>
                  </a:ext>
                </a:extLst>
              </a:tr>
              <a:tr h="141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altLang="en-US" sz="800" b="0">
                          <a:effectLst/>
                          <a:latin typeface="Arial" panose="020B0604020202020204" pitchFamily="34" charset="0"/>
                        </a:rPr>
                        <a:t>월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ko-KR" altLang="en-US" sz="800">
                        <a:effectLst/>
                      </a:endParaRP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effectLst/>
                        </a:rPr>
                        <a:t>0</a:t>
                      </a:r>
                    </a:p>
                  </a:txBody>
                  <a:tcPr marL="16236" marR="16236" marT="10824" marB="1082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394636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2245804" y="550569"/>
            <a:ext cx="2324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PPT 10</a:t>
            </a:r>
            <a:r>
              <a:rPr lang="ko-KR" altLang="en-US" sz="1100" dirty="0" smtClean="0"/>
              <a:t>번 페이지 데이터에서 계산</a:t>
            </a:r>
            <a:endParaRPr lang="ko-KR" altLang="en-US" sz="1100" dirty="0"/>
          </a:p>
        </p:txBody>
      </p:sp>
      <p:grpSp>
        <p:nvGrpSpPr>
          <p:cNvPr id="39" name="그룹 38"/>
          <p:cNvGrpSpPr/>
          <p:nvPr/>
        </p:nvGrpSpPr>
        <p:grpSpPr>
          <a:xfrm>
            <a:off x="2165697" y="1683758"/>
            <a:ext cx="5889962" cy="682692"/>
            <a:chOff x="2165697" y="4346508"/>
            <a:chExt cx="6415655" cy="682692"/>
          </a:xfrm>
        </p:grpSpPr>
        <p:sp>
          <p:nvSpPr>
            <p:cNvPr id="42" name="직사각형 41"/>
            <p:cNvSpPr/>
            <p:nvPr/>
          </p:nvSpPr>
          <p:spPr>
            <a:xfrm>
              <a:off x="2371060" y="4412006"/>
              <a:ext cx="2483028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▼</a:t>
              </a:r>
              <a:r>
                <a:rPr lang="ko-KR" altLang="en-US" sz="1200" dirty="0" err="1" smtClean="0"/>
                <a:t>기간선택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연도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월</a:t>
              </a:r>
              <a:r>
                <a:rPr lang="en-US" altLang="ko-KR" sz="1200" dirty="0" smtClean="0"/>
                <a:t>)</a:t>
              </a:r>
            </a:p>
            <a:p>
              <a:pPr algn="ctr"/>
              <a:r>
                <a:rPr lang="ko-KR" altLang="en-US" sz="900" dirty="0" smtClean="0"/>
                <a:t>월의 기준 </a:t>
              </a:r>
              <a:r>
                <a:rPr lang="en-US" altLang="ko-KR" sz="900" dirty="0" smtClean="0"/>
                <a:t>: </a:t>
              </a:r>
            </a:p>
            <a:p>
              <a:pPr algn="ctr"/>
              <a:r>
                <a:rPr lang="ko-KR" altLang="en-US" sz="900" dirty="0" smtClean="0"/>
                <a:t>전월 </a:t>
              </a:r>
              <a:r>
                <a:rPr lang="en-US" altLang="ko-KR" sz="900" dirty="0" smtClean="0"/>
                <a:t>26</a:t>
              </a:r>
              <a:r>
                <a:rPr lang="ko-KR" altLang="en-US" sz="900" dirty="0" smtClean="0"/>
                <a:t>일</a:t>
              </a:r>
              <a:r>
                <a:rPr lang="en-US" altLang="ko-KR" sz="900" dirty="0" smtClean="0"/>
                <a:t>~</a:t>
              </a:r>
              <a:r>
                <a:rPr lang="ko-KR" altLang="en-US" sz="900" dirty="0" smtClean="0"/>
                <a:t>당월</a:t>
              </a:r>
              <a:r>
                <a:rPr lang="en-US" altLang="ko-KR" sz="900" dirty="0" smtClean="0"/>
                <a:t>25</a:t>
              </a:r>
              <a:r>
                <a:rPr lang="ko-KR" altLang="en-US" sz="900" dirty="0" smtClean="0"/>
                <a:t>일까지</a:t>
              </a:r>
              <a:endParaRPr lang="ko-KR" altLang="en-US" sz="900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965405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▼ </a:t>
              </a:r>
              <a:r>
                <a:rPr lang="ko-KR" altLang="en-US" sz="1000" dirty="0" err="1" smtClean="0"/>
                <a:t>대분류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err="1" smtClean="0"/>
                <a:t>지점군</a:t>
              </a:r>
              <a:r>
                <a:rPr lang="ko-KR" altLang="en-US" sz="1000" dirty="0" smtClean="0"/>
                <a:t> 선택</a:t>
              </a:r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필수</a:t>
              </a:r>
              <a:r>
                <a:rPr lang="en-US" altLang="ko-KR" sz="1000" dirty="0" smtClean="0"/>
                <a:t>)</a:t>
              </a:r>
            </a:p>
            <a:p>
              <a:pPr algn="ctr"/>
              <a:r>
                <a:rPr lang="ko-KR" altLang="en-US" sz="1000" dirty="0" err="1" smtClean="0"/>
                <a:t>전체선택</a:t>
              </a:r>
              <a:r>
                <a:rPr lang="ko-KR" altLang="en-US" sz="1000" dirty="0" smtClean="0"/>
                <a:t> 옵션</a:t>
              </a:r>
              <a:endParaRPr lang="ko-KR" altLang="en-US" sz="1000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826980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/>
                <a:t>▼ 중분류 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지점선택</a:t>
              </a:r>
              <a:r>
                <a:rPr lang="en-US" altLang="ko-KR" sz="1050" dirty="0" smtClean="0"/>
                <a:t>(</a:t>
              </a:r>
              <a:r>
                <a:rPr lang="ko-KR" altLang="en-US" sz="1050" dirty="0" smtClean="0"/>
                <a:t>선택</a:t>
              </a:r>
              <a:r>
                <a:rPr lang="en-US" altLang="ko-KR" sz="1050" dirty="0" smtClean="0"/>
                <a:t>)</a:t>
              </a:r>
              <a:endParaRPr lang="ko-KR" altLang="en-US" sz="105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65697" y="4346508"/>
              <a:ext cx="574954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19183" y="4346508"/>
              <a:ext cx="574954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676450" y="4346508"/>
              <a:ext cx="574954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필터</a:t>
              </a:r>
              <a:endParaRPr lang="ko-KR" altLang="en-US" sz="1100" dirty="0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2165697" y="868510"/>
            <a:ext cx="5889962" cy="682692"/>
            <a:chOff x="2165697" y="4346508"/>
            <a:chExt cx="6415655" cy="682692"/>
          </a:xfrm>
        </p:grpSpPr>
        <p:sp>
          <p:nvSpPr>
            <p:cNvPr id="52" name="직사각형 51"/>
            <p:cNvSpPr/>
            <p:nvPr/>
          </p:nvSpPr>
          <p:spPr>
            <a:xfrm>
              <a:off x="2371060" y="4412006"/>
              <a:ext cx="2483028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▼</a:t>
              </a:r>
              <a:r>
                <a:rPr lang="ko-KR" altLang="en-US" sz="1200" dirty="0" err="1" smtClean="0"/>
                <a:t>기간선택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연도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월</a:t>
              </a:r>
              <a:r>
                <a:rPr lang="en-US" altLang="ko-KR" sz="1200" dirty="0" smtClean="0"/>
                <a:t>)</a:t>
              </a:r>
            </a:p>
            <a:p>
              <a:pPr algn="ctr"/>
              <a:r>
                <a:rPr lang="ko-KR" altLang="en-US" sz="900" dirty="0" smtClean="0"/>
                <a:t>월의 기준 </a:t>
              </a:r>
              <a:r>
                <a:rPr lang="en-US" altLang="ko-KR" sz="900" dirty="0" smtClean="0"/>
                <a:t>: </a:t>
              </a:r>
            </a:p>
            <a:p>
              <a:pPr algn="ctr"/>
              <a:r>
                <a:rPr lang="ko-KR" altLang="en-US" sz="900" dirty="0" smtClean="0"/>
                <a:t>전월 </a:t>
              </a:r>
              <a:r>
                <a:rPr lang="en-US" altLang="ko-KR" sz="900" dirty="0" smtClean="0"/>
                <a:t>26</a:t>
              </a:r>
              <a:r>
                <a:rPr lang="ko-KR" altLang="en-US" sz="900" dirty="0" smtClean="0"/>
                <a:t>일</a:t>
              </a:r>
              <a:r>
                <a:rPr lang="en-US" altLang="ko-KR" sz="900" dirty="0" smtClean="0"/>
                <a:t>~</a:t>
              </a:r>
              <a:r>
                <a:rPr lang="ko-KR" altLang="en-US" sz="900" dirty="0" smtClean="0"/>
                <a:t>당월</a:t>
              </a:r>
              <a:r>
                <a:rPr lang="en-US" altLang="ko-KR" sz="900" dirty="0" smtClean="0"/>
                <a:t>25</a:t>
              </a:r>
              <a:r>
                <a:rPr lang="ko-KR" altLang="en-US" sz="900" dirty="0" smtClean="0"/>
                <a:t>일까지</a:t>
              </a:r>
              <a:endParaRPr lang="ko-KR" altLang="en-US" sz="9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965405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▼ </a:t>
              </a:r>
              <a:r>
                <a:rPr lang="ko-KR" altLang="en-US" sz="1000" dirty="0" err="1" smtClean="0"/>
                <a:t>대분류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err="1" smtClean="0"/>
                <a:t>전체선택</a:t>
              </a:r>
              <a:endParaRPr lang="ko-KR" altLang="en-US" sz="1000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826980" y="4412007"/>
              <a:ext cx="1754372" cy="6171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/>
                <a:t>▼ 중분류 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전체선택</a:t>
              </a:r>
              <a:endParaRPr lang="ko-KR" altLang="en-US" sz="105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65697" y="4346508"/>
              <a:ext cx="748705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 smtClean="0"/>
                <a:t>기준값</a:t>
              </a:r>
              <a:endParaRPr lang="ko-KR" altLang="en-US" sz="11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19183" y="4346508"/>
              <a:ext cx="748705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 smtClean="0"/>
                <a:t>기준값</a:t>
              </a:r>
              <a:endParaRPr lang="ko-KR" altLang="en-US" sz="11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676450" y="4346508"/>
              <a:ext cx="748705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 smtClean="0"/>
                <a:t>기준값</a:t>
              </a:r>
              <a:endParaRPr lang="ko-KR" altLang="en-US" sz="1100" dirty="0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10002583" y="609698"/>
            <a:ext cx="2054738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▼ </a:t>
            </a:r>
            <a:r>
              <a:rPr lang="ko-KR" altLang="en-US" sz="1100" dirty="0" err="1" smtClean="0"/>
              <a:t>기준값</a:t>
            </a:r>
            <a:r>
              <a:rPr lang="ko-KR" altLang="en-US" sz="1100" dirty="0" smtClean="0"/>
              <a:t> 숨기기 버튼</a:t>
            </a:r>
            <a:endParaRPr lang="ko-KR" altLang="en-US" sz="1100" dirty="0"/>
          </a:p>
        </p:txBody>
      </p:sp>
      <p:graphicFrame>
        <p:nvGraphicFramePr>
          <p:cNvPr id="59" name="차트 58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790545"/>
              </p:ext>
            </p:extLst>
          </p:nvPr>
        </p:nvGraphicFramePr>
        <p:xfrm>
          <a:off x="3530009" y="2870415"/>
          <a:ext cx="8325294" cy="1948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5557580" y="4897168"/>
            <a:ext cx="3052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가로축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필터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기간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선택 </a:t>
            </a:r>
            <a:r>
              <a:rPr lang="ko-KR" altLang="en-US" sz="1200" dirty="0" err="1" smtClean="0"/>
              <a:t>대분류와</a:t>
            </a:r>
            <a:r>
              <a:rPr lang="ko-KR" altLang="en-US" sz="1200" dirty="0" smtClean="0"/>
              <a:t> 중분류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2371060" y="330352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세로축 </a:t>
            </a:r>
            <a:r>
              <a:rPr lang="en-US" altLang="ko-KR" sz="1200" dirty="0" smtClean="0"/>
              <a:t>: </a:t>
            </a:r>
          </a:p>
          <a:p>
            <a:r>
              <a:rPr lang="ko-KR" altLang="en-US" sz="1200" dirty="0" err="1" smtClean="0"/>
              <a:t>칭찬개수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637953" y="4592232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불만현황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탭</a:t>
            </a:r>
            <a:r>
              <a:rPr lang="en-US" altLang="ko-KR" sz="1400" dirty="0" smtClean="0"/>
              <a:t>1)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4150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371061" y="949624"/>
            <a:ext cx="9686260" cy="403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err="1" smtClean="0"/>
              <a:t>불만현황</a:t>
            </a:r>
            <a:r>
              <a:rPr lang="en-US" altLang="ko-KR" sz="1200" dirty="0" smtClean="0"/>
              <a:t> </a:t>
            </a:r>
            <a:r>
              <a:rPr lang="ko-KR" altLang="en-US" sz="1200" dirty="0" err="1" smtClean="0"/>
              <a:t>키워드별</a:t>
            </a:r>
            <a:r>
              <a:rPr lang="ko-KR" altLang="en-US" sz="1200" dirty="0" smtClean="0"/>
              <a:t> 비교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350874" y="3371556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칭찬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불만 현황</a:t>
            </a:r>
            <a:endParaRPr lang="ko-KR" altLang="en-US" sz="14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435935" y="3935081"/>
            <a:ext cx="0" cy="105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46567" y="49760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46567" y="4327451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371059" y="82402"/>
            <a:ext cx="9686262" cy="389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불만현황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키워드현황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탭 </a:t>
            </a:r>
            <a:r>
              <a:rPr lang="en-US" altLang="ko-KR" sz="1400" dirty="0"/>
              <a:t>2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2245804" y="550569"/>
            <a:ext cx="2324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PPT 10</a:t>
            </a:r>
            <a:r>
              <a:rPr lang="ko-KR" altLang="en-US" sz="1100" dirty="0" smtClean="0"/>
              <a:t>번 페이지 데이터에서 계산</a:t>
            </a:r>
            <a:endParaRPr lang="ko-KR" altLang="en-US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10002583" y="609698"/>
            <a:ext cx="2054738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▼ </a:t>
            </a:r>
            <a:r>
              <a:rPr lang="ko-KR" altLang="en-US" sz="1100" dirty="0" err="1" smtClean="0"/>
              <a:t>기준값</a:t>
            </a:r>
            <a:r>
              <a:rPr lang="ko-KR" altLang="en-US" sz="1100" dirty="0" smtClean="0"/>
              <a:t> 숨기기 버튼</a:t>
            </a:r>
            <a:endParaRPr lang="ko-KR" altLang="en-US" sz="1100" dirty="0"/>
          </a:p>
        </p:txBody>
      </p:sp>
      <p:sp>
        <p:nvSpPr>
          <p:cNvPr id="34" name="직사각형 33"/>
          <p:cNvSpPr/>
          <p:nvPr/>
        </p:nvSpPr>
        <p:spPr>
          <a:xfrm>
            <a:off x="637953" y="4592232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불만현황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탭</a:t>
            </a:r>
            <a:r>
              <a:rPr lang="en-US" altLang="ko-KR" sz="1400" dirty="0" smtClean="0"/>
              <a:t>2)</a:t>
            </a:r>
            <a:endParaRPr lang="ko-KR" altLang="en-US" sz="1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545550"/>
              </p:ext>
            </p:extLst>
          </p:nvPr>
        </p:nvGraphicFramePr>
        <p:xfrm>
          <a:off x="2371061" y="1517354"/>
          <a:ext cx="9686261" cy="4891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97">
                  <a:extLst>
                    <a:ext uri="{9D8B030D-6E8A-4147-A177-3AD203B41FA5}">
                      <a16:colId xmlns:a16="http://schemas.microsoft.com/office/drawing/2014/main" val="2398904738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2739830746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1116400981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1611548627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3945433378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3696052895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4096927352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3865679456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2597108633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3490297552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6079872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766908525"/>
                    </a:ext>
                  </a:extLst>
                </a:gridCol>
                <a:gridCol w="745097">
                  <a:extLst>
                    <a:ext uri="{9D8B030D-6E8A-4147-A177-3AD203B41FA5}">
                      <a16:colId xmlns:a16="http://schemas.microsoft.com/office/drawing/2014/main" val="3297800215"/>
                    </a:ext>
                  </a:extLst>
                </a:gridCol>
              </a:tblGrid>
              <a:tr h="5186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연도</a:t>
                      </a:r>
                      <a:endParaRPr lang="en-US" altLang="ko-KR" sz="1100" dirty="0" smtClean="0"/>
                    </a:p>
                    <a:p>
                      <a:pPr algn="l" latinLnBrk="1"/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필터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월</a:t>
                      </a:r>
                      <a:endParaRPr lang="en-US" altLang="ko-KR" sz="1100" dirty="0" smtClean="0"/>
                    </a:p>
                    <a:p>
                      <a:pPr algn="l" latinLnBrk="1"/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필터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대분류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필터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중분류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필터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주차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안내 </a:t>
                      </a:r>
                      <a:r>
                        <a:rPr lang="ko-KR" altLang="en-US" sz="1100" dirty="0" err="1" smtClean="0"/>
                        <a:t>응대부족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대기관련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불친절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시스템불만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개인정보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환경불만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기타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총개수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계산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194068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555608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380718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221800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838410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749911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87884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045634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337129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96348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291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36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50874" y="3492128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업로드 게시판</a:t>
            </a:r>
            <a:endParaRPr lang="ko-KR" altLang="en-US" sz="1400" dirty="0"/>
          </a:p>
        </p:txBody>
      </p:sp>
      <p:sp>
        <p:nvSpPr>
          <p:cNvPr id="13" name="직사각형 12"/>
          <p:cNvSpPr/>
          <p:nvPr/>
        </p:nvSpPr>
        <p:spPr>
          <a:xfrm>
            <a:off x="637953" y="4081566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모바일만족도 참여율 업로드</a:t>
            </a:r>
            <a:endParaRPr lang="ko-KR" altLang="en-US" sz="1400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435935" y="4029437"/>
            <a:ext cx="0" cy="225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46567" y="5070393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46567" y="442180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446567" y="5675415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46567" y="62804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285998" y="147519"/>
            <a:ext cx="517805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모바일만족도 참여율 월별 데이터 업로드</a:t>
            </a:r>
            <a:endParaRPr lang="ko-KR" altLang="en-US" sz="1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351812"/>
              </p:ext>
            </p:extLst>
          </p:nvPr>
        </p:nvGraphicFramePr>
        <p:xfrm>
          <a:off x="2285998" y="964214"/>
          <a:ext cx="9686262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377">
                  <a:extLst>
                    <a:ext uri="{9D8B030D-6E8A-4147-A177-3AD203B41FA5}">
                      <a16:colId xmlns:a16="http://schemas.microsoft.com/office/drawing/2014/main" val="35375144"/>
                    </a:ext>
                  </a:extLst>
                </a:gridCol>
                <a:gridCol w="1614377">
                  <a:extLst>
                    <a:ext uri="{9D8B030D-6E8A-4147-A177-3AD203B41FA5}">
                      <a16:colId xmlns:a16="http://schemas.microsoft.com/office/drawing/2014/main" val="1908598908"/>
                    </a:ext>
                  </a:extLst>
                </a:gridCol>
                <a:gridCol w="1614377">
                  <a:extLst>
                    <a:ext uri="{9D8B030D-6E8A-4147-A177-3AD203B41FA5}">
                      <a16:colId xmlns:a16="http://schemas.microsoft.com/office/drawing/2014/main" val="3587907400"/>
                    </a:ext>
                  </a:extLst>
                </a:gridCol>
                <a:gridCol w="1614377">
                  <a:extLst>
                    <a:ext uri="{9D8B030D-6E8A-4147-A177-3AD203B41FA5}">
                      <a16:colId xmlns:a16="http://schemas.microsoft.com/office/drawing/2014/main" val="277184012"/>
                    </a:ext>
                  </a:extLst>
                </a:gridCol>
                <a:gridCol w="1614377">
                  <a:extLst>
                    <a:ext uri="{9D8B030D-6E8A-4147-A177-3AD203B41FA5}">
                      <a16:colId xmlns:a16="http://schemas.microsoft.com/office/drawing/2014/main" val="1150747605"/>
                    </a:ext>
                  </a:extLst>
                </a:gridCol>
                <a:gridCol w="1614377">
                  <a:extLst>
                    <a:ext uri="{9D8B030D-6E8A-4147-A177-3AD203B41FA5}">
                      <a16:colId xmlns:a16="http://schemas.microsoft.com/office/drawing/2014/main" val="1770445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연도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월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지점명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참여대상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참여자 수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참여율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계산</a:t>
                      </a:r>
                      <a:r>
                        <a:rPr lang="en-US" altLang="ko-KR" sz="1400" dirty="0" smtClean="0"/>
                        <a:t>)</a:t>
                      </a:r>
                    </a:p>
                    <a:p>
                      <a:pPr algn="ctr" latinLnBrk="1"/>
                      <a:r>
                        <a:rPr lang="en-US" altLang="ko-KR" sz="1400" dirty="0" smtClean="0"/>
                        <a:t>=</a:t>
                      </a:r>
                      <a:r>
                        <a:rPr lang="ko-KR" altLang="en-US" sz="1400" dirty="0" err="1" smtClean="0"/>
                        <a:t>참여자수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참여대상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6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28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785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22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94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033441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9346018" y="340242"/>
            <a:ext cx="2509279" cy="37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+</a:t>
            </a:r>
            <a:r>
              <a:rPr lang="ko-KR" altLang="en-US" sz="1400" dirty="0" smtClean="0"/>
              <a:t>엑셀 파일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업로드버튼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8692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50874" y="3492128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업로드 게시판</a:t>
            </a:r>
            <a:endParaRPr lang="ko-KR" altLang="en-US" sz="1400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435935" y="4029437"/>
            <a:ext cx="0" cy="225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46567" y="5070393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46567" y="442180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446567" y="5675415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46567" y="62804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285998" y="147519"/>
            <a:ext cx="517805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NPS</a:t>
            </a:r>
            <a:r>
              <a:rPr lang="ko-KR" altLang="en-US" sz="1400" dirty="0" smtClean="0"/>
              <a:t>업로드</a:t>
            </a:r>
            <a:endParaRPr lang="ko-KR" altLang="en-US" sz="1400" dirty="0"/>
          </a:p>
        </p:txBody>
      </p:sp>
      <p:sp>
        <p:nvSpPr>
          <p:cNvPr id="22" name="직사각형 21"/>
          <p:cNvSpPr/>
          <p:nvPr/>
        </p:nvSpPr>
        <p:spPr>
          <a:xfrm>
            <a:off x="637953" y="4686588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NPS</a:t>
            </a:r>
            <a:r>
              <a:rPr lang="ko-KR" altLang="en-US" sz="1400" dirty="0" smtClean="0"/>
              <a:t>업로드</a:t>
            </a:r>
            <a:endParaRPr lang="ko-KR" altLang="en-US" sz="1400" dirty="0"/>
          </a:p>
        </p:txBody>
      </p:sp>
      <p:sp>
        <p:nvSpPr>
          <p:cNvPr id="13" name="직사각형 12"/>
          <p:cNvSpPr/>
          <p:nvPr/>
        </p:nvSpPr>
        <p:spPr>
          <a:xfrm>
            <a:off x="9346018" y="340242"/>
            <a:ext cx="2509279" cy="37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+</a:t>
            </a:r>
            <a:r>
              <a:rPr lang="ko-KR" altLang="en-US" sz="1400" dirty="0" smtClean="0"/>
              <a:t>엑셀 파일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업로드버튼</a:t>
            </a:r>
            <a:endParaRPr lang="ko-KR" altLang="en-US" sz="14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863194"/>
              </p:ext>
            </p:extLst>
          </p:nvPr>
        </p:nvGraphicFramePr>
        <p:xfrm>
          <a:off x="2285998" y="886682"/>
          <a:ext cx="9688887" cy="3075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482">
                  <a:extLst>
                    <a:ext uri="{9D8B030D-6E8A-4147-A177-3AD203B41FA5}">
                      <a16:colId xmlns:a16="http://schemas.microsoft.com/office/drawing/2014/main" val="782283428"/>
                    </a:ext>
                  </a:extLst>
                </a:gridCol>
                <a:gridCol w="883482">
                  <a:extLst>
                    <a:ext uri="{9D8B030D-6E8A-4147-A177-3AD203B41FA5}">
                      <a16:colId xmlns:a16="http://schemas.microsoft.com/office/drawing/2014/main" val="4063442366"/>
                    </a:ext>
                  </a:extLst>
                </a:gridCol>
                <a:gridCol w="883482">
                  <a:extLst>
                    <a:ext uri="{9D8B030D-6E8A-4147-A177-3AD203B41FA5}">
                      <a16:colId xmlns:a16="http://schemas.microsoft.com/office/drawing/2014/main" val="1128123530"/>
                    </a:ext>
                  </a:extLst>
                </a:gridCol>
                <a:gridCol w="883482">
                  <a:extLst>
                    <a:ext uri="{9D8B030D-6E8A-4147-A177-3AD203B41FA5}">
                      <a16:colId xmlns:a16="http://schemas.microsoft.com/office/drawing/2014/main" val="2318720095"/>
                    </a:ext>
                  </a:extLst>
                </a:gridCol>
                <a:gridCol w="883482">
                  <a:extLst>
                    <a:ext uri="{9D8B030D-6E8A-4147-A177-3AD203B41FA5}">
                      <a16:colId xmlns:a16="http://schemas.microsoft.com/office/drawing/2014/main" val="2095269680"/>
                    </a:ext>
                  </a:extLst>
                </a:gridCol>
                <a:gridCol w="883482">
                  <a:extLst>
                    <a:ext uri="{9D8B030D-6E8A-4147-A177-3AD203B41FA5}">
                      <a16:colId xmlns:a16="http://schemas.microsoft.com/office/drawing/2014/main" val="3975257737"/>
                    </a:ext>
                  </a:extLst>
                </a:gridCol>
                <a:gridCol w="877599">
                  <a:extLst>
                    <a:ext uri="{9D8B030D-6E8A-4147-A177-3AD203B41FA5}">
                      <a16:colId xmlns:a16="http://schemas.microsoft.com/office/drawing/2014/main" val="185363455"/>
                    </a:ext>
                  </a:extLst>
                </a:gridCol>
                <a:gridCol w="877599">
                  <a:extLst>
                    <a:ext uri="{9D8B030D-6E8A-4147-A177-3AD203B41FA5}">
                      <a16:colId xmlns:a16="http://schemas.microsoft.com/office/drawing/2014/main" val="229083729"/>
                    </a:ext>
                  </a:extLst>
                </a:gridCol>
                <a:gridCol w="877599">
                  <a:extLst>
                    <a:ext uri="{9D8B030D-6E8A-4147-A177-3AD203B41FA5}">
                      <a16:colId xmlns:a16="http://schemas.microsoft.com/office/drawing/2014/main" val="3255941334"/>
                    </a:ext>
                  </a:extLst>
                </a:gridCol>
                <a:gridCol w="877599">
                  <a:extLst>
                    <a:ext uri="{9D8B030D-6E8A-4147-A177-3AD203B41FA5}">
                      <a16:colId xmlns:a16="http://schemas.microsoft.com/office/drawing/2014/main" val="3639794139"/>
                    </a:ext>
                  </a:extLst>
                </a:gridCol>
                <a:gridCol w="877599">
                  <a:extLst>
                    <a:ext uri="{9D8B030D-6E8A-4147-A177-3AD203B41FA5}">
                      <a16:colId xmlns:a16="http://schemas.microsoft.com/office/drawing/2014/main" val="3090801993"/>
                    </a:ext>
                  </a:extLst>
                </a:gridCol>
              </a:tblGrid>
              <a:tr h="4139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지점명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매우만족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개수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만족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개수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보통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개수</a:t>
                      </a:r>
                      <a:r>
                        <a:rPr lang="en-US" altLang="ko-KR" sz="12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불만족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개수</a:t>
                      </a:r>
                      <a:r>
                        <a:rPr lang="en-US" altLang="ko-KR" sz="12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매우불만족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개수</a:t>
                      </a:r>
                      <a:r>
                        <a:rPr lang="en-US" altLang="ko-KR" sz="12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계산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err="1" smtClean="0"/>
                        <a:t>보통이하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보통</a:t>
                      </a:r>
                      <a:r>
                        <a:rPr lang="en-US" altLang="ko-KR" sz="1200" dirty="0" smtClean="0"/>
                        <a:t>+</a:t>
                      </a:r>
                      <a:r>
                        <a:rPr lang="ko-KR" altLang="en-US" sz="1200" dirty="0" smtClean="0"/>
                        <a:t>불만족</a:t>
                      </a:r>
                      <a:r>
                        <a:rPr lang="en-US" altLang="ko-KR" sz="1200" dirty="0" smtClean="0"/>
                        <a:t>+</a:t>
                      </a:r>
                      <a:r>
                        <a:rPr lang="ko-KR" altLang="en-US" sz="1200" dirty="0" err="1" smtClean="0"/>
                        <a:t>매우불만족</a:t>
                      </a:r>
                      <a:r>
                        <a:rPr lang="en-US" altLang="ko-KR" sz="12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총개수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err="1" smtClean="0"/>
                        <a:t>매우만족</a:t>
                      </a:r>
                      <a:r>
                        <a:rPr lang="en-US" altLang="ko-KR" sz="1200" dirty="0" smtClean="0"/>
                        <a:t>~</a:t>
                      </a:r>
                      <a:r>
                        <a:rPr lang="ko-KR" altLang="en-US" sz="1200" dirty="0" err="1" smtClean="0"/>
                        <a:t>매우불만족까지</a:t>
                      </a:r>
                      <a:r>
                        <a:rPr lang="ko-KR" altLang="en-US" sz="1200" dirty="0" smtClean="0"/>
                        <a:t> 총합계</a:t>
                      </a:r>
                      <a:endParaRPr lang="en-US" altLang="ko-KR" sz="12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322275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441214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35413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74892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103205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292814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9346018" y="4138025"/>
            <a:ext cx="2509279" cy="37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+</a:t>
            </a:r>
            <a:r>
              <a:rPr lang="ko-KR" altLang="en-US" sz="1400" dirty="0" smtClean="0"/>
              <a:t>저장 및 업로드 버튼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27655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50874" y="3492128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업로드 게시판</a:t>
            </a:r>
            <a:endParaRPr lang="ko-KR" altLang="en-US" sz="1400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435935" y="4029437"/>
            <a:ext cx="0" cy="225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46567" y="5070393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46567" y="442180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637953" y="5291610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칭찬 업로드</a:t>
            </a:r>
            <a:endParaRPr lang="ko-KR" altLang="en-US" sz="1400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446567" y="5675415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46567" y="62804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285998" y="147519"/>
            <a:ext cx="517805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칭찬 업로드</a:t>
            </a:r>
            <a:endParaRPr lang="ko-KR" altLang="en-US" sz="140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20341"/>
              </p:ext>
            </p:extLst>
          </p:nvPr>
        </p:nvGraphicFramePr>
        <p:xfrm>
          <a:off x="2285998" y="886682"/>
          <a:ext cx="9569300" cy="2527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159">
                  <a:extLst>
                    <a:ext uri="{9D8B030D-6E8A-4147-A177-3AD203B41FA5}">
                      <a16:colId xmlns:a16="http://schemas.microsoft.com/office/drawing/2014/main" val="1986655565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782283428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4063442366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1128123530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2318720095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2095269680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3975257737"/>
                    </a:ext>
                  </a:extLst>
                </a:gridCol>
                <a:gridCol w="1189187">
                  <a:extLst>
                    <a:ext uri="{9D8B030D-6E8A-4147-A177-3AD203B41FA5}">
                      <a16:colId xmlns:a16="http://schemas.microsoft.com/office/drawing/2014/main" val="185363455"/>
                    </a:ext>
                  </a:extLst>
                </a:gridCol>
              </a:tblGrid>
              <a:tr h="4139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No.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유입경로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지점명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칭찬내용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칭찬대상자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수기기입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322275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441214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35413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74892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103205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292814"/>
                  </a:ext>
                </a:extLst>
              </a:tr>
            </a:tbl>
          </a:graphicData>
        </a:graphic>
      </p:graphicFrame>
      <p:sp>
        <p:nvSpPr>
          <p:cNvPr id="25" name="직사각형 24"/>
          <p:cNvSpPr/>
          <p:nvPr/>
        </p:nvSpPr>
        <p:spPr>
          <a:xfrm>
            <a:off x="9346018" y="340242"/>
            <a:ext cx="2509279" cy="37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+</a:t>
            </a:r>
            <a:r>
              <a:rPr lang="ko-KR" altLang="en-US" sz="1400" dirty="0" smtClean="0"/>
              <a:t>엑셀 파일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업로드버튼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9346018" y="3492128"/>
            <a:ext cx="2509279" cy="37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+</a:t>
            </a:r>
            <a:r>
              <a:rPr lang="ko-KR" altLang="en-US" sz="1400" dirty="0" smtClean="0"/>
              <a:t>저장 및 업로드 버튼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91970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855" y="563525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접속자명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지점명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0839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50874" y="3492128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업로드 게시판</a:t>
            </a:r>
            <a:endParaRPr lang="ko-KR" altLang="en-US" sz="1400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435935" y="4029437"/>
            <a:ext cx="0" cy="225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46567" y="5070393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46567" y="442180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446567" y="5675415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46567" y="6280437"/>
            <a:ext cx="191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285998" y="147519"/>
            <a:ext cx="517805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불만 업로드</a:t>
            </a:r>
            <a:endParaRPr lang="ko-KR" altLang="en-US" sz="14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54075"/>
              </p:ext>
            </p:extLst>
          </p:nvPr>
        </p:nvGraphicFramePr>
        <p:xfrm>
          <a:off x="2285998" y="886682"/>
          <a:ext cx="9569300" cy="2527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159">
                  <a:extLst>
                    <a:ext uri="{9D8B030D-6E8A-4147-A177-3AD203B41FA5}">
                      <a16:colId xmlns:a16="http://schemas.microsoft.com/office/drawing/2014/main" val="1986655565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782283428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4063442366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1128123530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2318720095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2095269680"/>
                    </a:ext>
                  </a:extLst>
                </a:gridCol>
                <a:gridCol w="1197159">
                  <a:extLst>
                    <a:ext uri="{9D8B030D-6E8A-4147-A177-3AD203B41FA5}">
                      <a16:colId xmlns:a16="http://schemas.microsoft.com/office/drawing/2014/main" val="3975257737"/>
                    </a:ext>
                  </a:extLst>
                </a:gridCol>
                <a:gridCol w="1189187">
                  <a:extLst>
                    <a:ext uri="{9D8B030D-6E8A-4147-A177-3AD203B41FA5}">
                      <a16:colId xmlns:a16="http://schemas.microsoft.com/office/drawing/2014/main" val="185363455"/>
                    </a:ext>
                  </a:extLst>
                </a:gridCol>
              </a:tblGrid>
              <a:tr h="4139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No.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지점명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유입경로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불만내용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불만카테고리선택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수기선택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322275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441214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35413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74892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103205"/>
                  </a:ext>
                </a:extLst>
              </a:tr>
              <a:tr h="4139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292814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637953" y="5896632"/>
            <a:ext cx="1446028" cy="5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불만 업로드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9346018" y="340242"/>
            <a:ext cx="2509279" cy="37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+</a:t>
            </a:r>
            <a:r>
              <a:rPr lang="ko-KR" altLang="en-US" sz="1400" dirty="0" smtClean="0"/>
              <a:t>엑셀 파일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업로드버튼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2573079" y="3874834"/>
            <a:ext cx="6096000" cy="23391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불만 카테고리</a:t>
            </a:r>
            <a:endParaRPr lang="en-US" altLang="ko-KR" dirty="0" smtClean="0"/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smtClean="0"/>
              <a:t>주차</a:t>
            </a:r>
            <a:endParaRPr lang="en-US" altLang="ko-KR" sz="1600" dirty="0" smtClean="0"/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smtClean="0"/>
              <a:t>안내</a:t>
            </a:r>
            <a:r>
              <a:rPr lang="en-US" altLang="ko-KR" sz="1600" dirty="0"/>
              <a:t>,</a:t>
            </a:r>
            <a:r>
              <a:rPr lang="ko-KR" altLang="en-US" sz="1600" dirty="0" err="1"/>
              <a:t>응대부족</a:t>
            </a:r>
            <a:r>
              <a:rPr lang="en-US" altLang="ko-KR" sz="1600" dirty="0"/>
              <a:t>(</a:t>
            </a:r>
            <a:r>
              <a:rPr lang="ko-KR" altLang="en-US" sz="1600" dirty="0"/>
              <a:t>처방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응대미숙</a:t>
            </a:r>
            <a:r>
              <a:rPr lang="en-US" altLang="ko-KR" sz="1600" dirty="0" smtClean="0"/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err="1" smtClean="0"/>
              <a:t>대기관련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접수순서</a:t>
            </a:r>
            <a:r>
              <a:rPr lang="en-US" altLang="ko-KR" sz="1600" dirty="0"/>
              <a:t>/</a:t>
            </a:r>
            <a:r>
              <a:rPr lang="ko-KR" altLang="en-US" sz="1600" dirty="0" err="1"/>
              <a:t>대기명수</a:t>
            </a:r>
            <a:r>
              <a:rPr lang="en-US" altLang="ko-KR" sz="1600" dirty="0"/>
              <a:t>/</a:t>
            </a:r>
            <a:r>
              <a:rPr lang="ko-KR" altLang="en-US" sz="1600" dirty="0"/>
              <a:t>대기시간</a:t>
            </a:r>
            <a:r>
              <a:rPr lang="en-US" altLang="ko-KR" sz="1600" dirty="0" smtClean="0"/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smtClean="0"/>
              <a:t>인사</a:t>
            </a:r>
            <a:r>
              <a:rPr lang="en-US" altLang="ko-KR" sz="1600" dirty="0"/>
              <a:t>/</a:t>
            </a:r>
            <a:r>
              <a:rPr lang="ko-KR" altLang="en-US" sz="1600" dirty="0"/>
              <a:t>표정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응대태도</a:t>
            </a:r>
            <a:r>
              <a:rPr lang="en-US" altLang="ko-KR" sz="1600" dirty="0"/>
              <a:t>(</a:t>
            </a:r>
            <a:r>
              <a:rPr lang="ko-KR" altLang="en-US" sz="1600" dirty="0"/>
              <a:t>불친절</a:t>
            </a:r>
            <a:r>
              <a:rPr lang="en-US" altLang="ko-KR" sz="1600" dirty="0" smtClean="0"/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err="1" smtClean="0"/>
              <a:t>시스템불만</a:t>
            </a:r>
            <a:r>
              <a:rPr lang="en-US" altLang="ko-KR" sz="1600" dirty="0"/>
              <a:t>(</a:t>
            </a:r>
            <a:r>
              <a:rPr lang="ko-KR" altLang="en-US" sz="1600" dirty="0"/>
              <a:t>매뉴얼</a:t>
            </a:r>
            <a:r>
              <a:rPr lang="en-US" altLang="ko-KR" sz="1600" dirty="0" smtClean="0"/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smtClean="0"/>
              <a:t>개인정보</a:t>
            </a:r>
            <a:endParaRPr lang="en-US" altLang="ko-KR" sz="1600" dirty="0" smtClean="0"/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err="1" smtClean="0"/>
              <a:t>환경불만</a:t>
            </a:r>
            <a:r>
              <a:rPr lang="en-US" altLang="ko-KR" sz="1600" dirty="0"/>
              <a:t>(</a:t>
            </a:r>
            <a:r>
              <a:rPr lang="ko-KR" altLang="en-US" sz="1600" dirty="0"/>
              <a:t>탈의실</a:t>
            </a:r>
            <a:r>
              <a:rPr lang="en-US" altLang="ko-KR" sz="1600" dirty="0"/>
              <a:t>,</a:t>
            </a:r>
            <a:r>
              <a:rPr lang="ko-KR" altLang="en-US" sz="1600" dirty="0"/>
              <a:t>가운</a:t>
            </a:r>
            <a:r>
              <a:rPr lang="en-US" altLang="ko-KR" sz="1600" dirty="0"/>
              <a:t>/ </a:t>
            </a:r>
            <a:r>
              <a:rPr lang="ko-KR" altLang="en-US" sz="1600" dirty="0" err="1"/>
              <a:t>접수대기실</a:t>
            </a:r>
            <a:r>
              <a:rPr lang="en-US" altLang="ko-KR" sz="1600" dirty="0" smtClean="0"/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smtClean="0"/>
              <a:t>기타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9747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809307" cy="591805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참고</a:t>
            </a:r>
            <a:r>
              <a:rPr lang="en-US" altLang="ko-KR" sz="2000" dirty="0" smtClean="0"/>
              <a:t>)</a:t>
            </a:r>
            <a:r>
              <a:rPr lang="ko-KR" altLang="en-US" sz="2000" dirty="0" err="1" smtClean="0"/>
              <a:t>지점구조</a:t>
            </a:r>
            <a:endParaRPr lang="ko-KR" altLang="en-US" sz="20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871600"/>
              </p:ext>
            </p:extLst>
          </p:nvPr>
        </p:nvGraphicFramePr>
        <p:xfrm>
          <a:off x="3702788" y="563516"/>
          <a:ext cx="7429500" cy="57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497">
                  <a:extLst>
                    <a:ext uri="{9D8B030D-6E8A-4147-A177-3AD203B41FA5}">
                      <a16:colId xmlns:a16="http://schemas.microsoft.com/office/drawing/2014/main" val="2868284550"/>
                    </a:ext>
                  </a:extLst>
                </a:gridCol>
                <a:gridCol w="1964001">
                  <a:extLst>
                    <a:ext uri="{9D8B030D-6E8A-4147-A177-3AD203B41FA5}">
                      <a16:colId xmlns:a16="http://schemas.microsoft.com/office/drawing/2014/main" val="1468900010"/>
                    </a:ext>
                  </a:extLst>
                </a:gridCol>
                <a:gridCol w="1964001">
                  <a:extLst>
                    <a:ext uri="{9D8B030D-6E8A-4147-A177-3AD203B41FA5}">
                      <a16:colId xmlns:a16="http://schemas.microsoft.com/office/drawing/2014/main" val="4016711381"/>
                    </a:ext>
                  </a:extLst>
                </a:gridCol>
                <a:gridCol w="1964001">
                  <a:extLst>
                    <a:ext uri="{9D8B030D-6E8A-4147-A177-3AD203B41FA5}">
                      <a16:colId xmlns:a16="http://schemas.microsoft.com/office/drawing/2014/main" val="1661368713"/>
                    </a:ext>
                  </a:extLst>
                </a:gridCol>
              </a:tblGrid>
              <a:tr h="289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 smtClean="0">
                          <a:latin typeface="+mn-lt"/>
                        </a:rPr>
                        <a:t>대분류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latin typeface="+mn-lt"/>
                        </a:rPr>
                        <a:t>중분류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 smtClean="0">
                          <a:latin typeface="+mn-lt"/>
                        </a:rPr>
                        <a:t>총괄담당자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latin typeface="+mn-lt"/>
                        </a:rPr>
                        <a:t>담당자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187143"/>
                  </a:ext>
                </a:extLst>
              </a:tr>
              <a:tr h="28920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 smtClean="0">
                          <a:latin typeface="+mn-lt"/>
                        </a:rPr>
                        <a:t>병원급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서울병원</a:t>
                      </a:r>
                    </a:p>
                  </a:txBody>
                  <a:tcPr marL="0" marR="0" marT="0" marB="0" anchor="ctr"/>
                </a:tc>
                <a:tc rowSpan="19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수원점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이아름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부산병원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황민영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3734170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대전병원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4918949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부산병원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1036854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인천병원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7238397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대구병원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28622176"/>
                  </a:ext>
                </a:extLst>
              </a:tr>
              <a:tr h="289206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+mn-lt"/>
                        </a:rPr>
                        <a:t>(</a:t>
                      </a:r>
                      <a:r>
                        <a:rPr lang="ko-KR" altLang="en-US" sz="1100" b="0" dirty="0" err="1" smtClean="0">
                          <a:latin typeface="+mn-lt"/>
                        </a:rPr>
                        <a:t>람스</a:t>
                      </a:r>
                      <a:r>
                        <a:rPr lang="en-US" altLang="ko-KR" sz="1100" b="0" dirty="0" smtClean="0">
                          <a:latin typeface="+mn-lt"/>
                        </a:rPr>
                        <a:t>+</a:t>
                      </a:r>
                      <a:r>
                        <a:rPr lang="ko-KR" altLang="en-US" sz="1100" b="0" dirty="0" smtClean="0">
                          <a:latin typeface="+mn-lt"/>
                        </a:rPr>
                        <a:t>시술</a:t>
                      </a:r>
                      <a:r>
                        <a:rPr lang="en-US" altLang="ko-KR" sz="1100" b="0" dirty="0" smtClean="0">
                          <a:latin typeface="+mn-lt"/>
                        </a:rPr>
                        <a:t>)</a:t>
                      </a:r>
                      <a:r>
                        <a:rPr lang="ko-KR" altLang="en-US" sz="1100" b="0" dirty="0" smtClean="0">
                          <a:latin typeface="+mn-lt"/>
                        </a:rPr>
                        <a:t>지점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강남본점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신촌점</a:t>
                      </a:r>
                      <a:r>
                        <a:rPr lang="en-US" altLang="ko-KR" sz="1100" b="0" dirty="0" smtClean="0">
                          <a:latin typeface="+mn-lt"/>
                        </a:rPr>
                        <a:t> </a:t>
                      </a:r>
                      <a:r>
                        <a:rPr lang="ko-KR" altLang="en-US" sz="1100" b="0" dirty="0" smtClean="0">
                          <a:latin typeface="+mn-lt"/>
                        </a:rPr>
                        <a:t>고희경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1607592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노원점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5563455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분당점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6375614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성신여대점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73131483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수원점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899567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신촌점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8561904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영등포점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8646730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일산점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76974652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천호점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9384635"/>
                  </a:ext>
                </a:extLst>
              </a:tr>
              <a:tr h="28920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+mn-lt"/>
                        </a:rPr>
                        <a:t>(</a:t>
                      </a:r>
                      <a:r>
                        <a:rPr lang="ko-KR" altLang="en-US" sz="1100" b="0" dirty="0" err="1" smtClean="0">
                          <a:latin typeface="+mn-lt"/>
                        </a:rPr>
                        <a:t>람스</a:t>
                      </a:r>
                      <a:r>
                        <a:rPr lang="en-US" altLang="ko-KR" sz="1100" b="0" dirty="0" smtClean="0">
                          <a:latin typeface="+mn-lt"/>
                        </a:rPr>
                        <a:t>)</a:t>
                      </a:r>
                      <a:r>
                        <a:rPr lang="ko-KR" altLang="en-US" sz="1100" b="0" dirty="0" smtClean="0">
                          <a:latin typeface="+mn-lt"/>
                        </a:rPr>
                        <a:t>지점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부천점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ko-KR" altLang="en-US" sz="1100" b="0" dirty="0" smtClean="0">
                          <a:latin typeface="+mn-lt"/>
                        </a:rPr>
                        <a:t>해운대점</a:t>
                      </a:r>
                      <a:r>
                        <a:rPr lang="en-US" altLang="ko-KR" sz="1100" b="0" dirty="0" smtClean="0">
                          <a:latin typeface="+mn-lt"/>
                        </a:rPr>
                        <a:t> </a:t>
                      </a:r>
                      <a:r>
                        <a:rPr lang="ko-KR" altLang="en-US" sz="1100" b="0" dirty="0" err="1" smtClean="0">
                          <a:latin typeface="+mn-lt"/>
                        </a:rPr>
                        <a:t>안성해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394202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안양평촌점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4138905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천안점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2337475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latin typeface="+mn-lt"/>
                        </a:rPr>
                        <a:t>청주점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5201591"/>
                  </a:ext>
                </a:extLst>
              </a:tr>
              <a:tr h="2892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smtClean="0">
                          <a:latin typeface="+mn-lt"/>
                        </a:rPr>
                        <a:t>해운대점</a:t>
                      </a:r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1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582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28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1385</Words>
  <Application>Microsoft Office PowerPoint</Application>
  <PresentationFormat>와이드스크린</PresentationFormat>
  <Paragraphs>669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참고)지점구조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365mc</dc:creator>
  <cp:lastModifiedBy>365mc</cp:lastModifiedBy>
  <cp:revision>32</cp:revision>
  <dcterms:created xsi:type="dcterms:W3CDTF">2026-04-13T08:09:30Z</dcterms:created>
  <dcterms:modified xsi:type="dcterms:W3CDTF">2026-04-14T05:27:04Z</dcterms:modified>
</cp:coreProperties>
</file>